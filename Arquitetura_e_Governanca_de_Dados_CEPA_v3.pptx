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19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638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3219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1092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0677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0901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9436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123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1974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1921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8262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1354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6396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5790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0220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0828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787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86B73EAF-0C8A-4C11-A216-792322F0D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xmlns="" id="{6F2BA792-10A2-4971-9F34-EFB40E6E8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xmlns="" id="{D1A589D1-B67C-4C60-A5E9-32DA1AA3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73218B4E-0B30-487F-B24C-1686DAB6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xmlns="" id="{2D86E37E-EE37-4CD1-A8D5-B897B4D74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xmlns="" id="{025896F1-18F3-48AB-87AC-5943A26D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2DB362F7-D2AB-4DFE-8362-8FE49876B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xmlns="" id="{05B76961-ACB3-4428-A5BD-8F51EFD9E9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172505DD-76FC-4C4E-9456-9A86314A8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915D4A7D-9B4C-485F-9A2B-2EA076EDF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xmlns="" id="{E4387A2A-C746-41DD-9224-3F97938BE4AF}"/>
              </a:ext>
            </a:extLst>
          </p:cNvPr>
          <p:cNvSpPr>
            <a:spLocks noGrp="1"/>
          </p:cNvSpPr>
          <p:nvPr/>
        </p:nvSpPr>
        <p:spPr>
          <a:xfrm>
            <a:off x="9620250" y="0"/>
            <a:ext cx="2571750" cy="2571750"/>
          </a:xfrm>
          <a:prstGeom prst="ellipse">
            <a:avLst/>
          </a:prstGeom>
          <a:solidFill>
            <a:srgbClr val="1B6E62"/>
          </a:solidFill>
          <a:ln w="0">
            <a:solidFill>
              <a:srgbClr val="1B6E62"/>
            </a:solidFill>
            <a:prstDash val="solid"/>
          </a:ln>
        </p:spPr>
      </p:sp>
      <p:sp>
        <p:nvSpPr>
          <p:cNvPr id="2" name="Elipse 1">
            <a:extLst>
              <a:ext uri="{FF2B5EF4-FFF2-40B4-BE49-F238E27FC236}">
                <a16:creationId xmlns:a16="http://schemas.microsoft.com/office/drawing/2014/main" xmlns="" id="{CD03E9A4-F01E-4E07-95DF-C76E49DDB3C9}"/>
              </a:ext>
            </a:extLst>
          </p:cNvPr>
          <p:cNvSpPr>
            <a:spLocks noGrp="1"/>
          </p:cNvSpPr>
          <p:nvPr/>
        </p:nvSpPr>
        <p:spPr>
          <a:xfrm>
            <a:off x="10287000" y="4762500"/>
            <a:ext cx="1905000" cy="2095500"/>
          </a:xfrm>
          <a:prstGeom prst="ellipse">
            <a:avLst/>
          </a:prstGeom>
          <a:solidFill>
            <a:srgbClr val="ED1C24"/>
          </a:solidFill>
          <a:ln w="0">
            <a:solidFill>
              <a:srgbClr val="ED1C24"/>
            </a:solidFill>
            <a:prstDash val="solid"/>
          </a:ln>
        </p:spPr>
      </p:sp>
      <p:sp>
        <p:nvSpPr>
          <p:cNvPr id="3" name="Retângulo de cantos arredondados 2">
            <a:extLst>
              <a:ext uri="{FF2B5EF4-FFF2-40B4-BE49-F238E27FC236}">
                <a16:creationId xmlns:a16="http://schemas.microsoft.com/office/drawing/2014/main" xmlns="" id="{CB827476-FC57-49ED-A063-FA80A637C8F1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333625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9FE8CFEE-D878-406C-830D-E193E332D104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115E3F"/>
                </a:solidFill>
              </a:defRPr>
            </a:defPPr>
          </a:lstStyle>
          <a:p>
            <a:pPr algn="ctr">
              <a:defRPr sz="900" b="1">
                <a:solidFill>
                  <a:srgbClr val="115E3F"/>
                </a:solidFill>
              </a:defRPr>
            </a:pPr>
            <a:r>
              <a:rPr sz="900" b="1">
                <a:solidFill>
                  <a:srgbClr val="115E3F"/>
                </a:solidFill>
              </a:rPr>
              <a:t>MINUTA PARA VALIDAÇÃO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2982055C-FFC0-4070-8315-1FA25D1964A0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75247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FFFFFF"/>
                </a:solidFill>
              </a:defRPr>
            </a:defPPr>
          </a:lstStyle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Arquitetura e governança</a:t>
            </a:r>
          </a:p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de dados para o CEPA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C24C9A9F-7C9E-428B-8A78-8BAEEC891F2D}"/>
              </a:ext>
            </a:extLst>
          </p:cNvPr>
          <p:cNvSpPr>
            <a:spLocks noGrp="1"/>
          </p:cNvSpPr>
          <p:nvPr/>
        </p:nvSpPr>
        <p:spPr>
          <a:xfrm>
            <a:off x="714375" y="3333750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FFFFFF"/>
                </a:solidFill>
              </a:defRPr>
            </a:defPPr>
          </a:lstStyle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Uma base institucional para produtos confiáveis, rastreáveis e sustentáveis</a:t>
            </a: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EED3C9BB-374A-40D4-8721-1ADE92704A7A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191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E21CEA5E-520C-40FC-B04B-04D19968B0CB}"/>
              </a:ext>
            </a:extLst>
          </p:cNvPr>
          <p:cNvSpPr>
            <a:spLocks noGrp="1"/>
          </p:cNvSpPr>
          <p:nvPr/>
        </p:nvSpPr>
        <p:spPr>
          <a:xfrm>
            <a:off x="933450" y="49339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15E3F"/>
                </a:solidFill>
              </a:defRPr>
            </a:defPPr>
          </a:lstStyle>
          <a:p>
            <a:pPr algn="l">
              <a:defRPr sz="1425" b="1">
                <a:solidFill>
                  <a:srgbClr val="115E3F"/>
                </a:solidFill>
              </a:defRPr>
            </a:pPr>
            <a:r>
              <a:rPr sz="1425" b="1">
                <a:solidFill>
                  <a:srgbClr val="115E3F"/>
                </a:solidFill>
              </a:rPr>
              <a:t>Dados organizados para apoiar decisões públicas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65AB2F0F-196A-4686-B6CD-8A16680FB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20125" y="2748883"/>
            <a:ext cx="2762250" cy="693484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768EC468-B0CA-4B65-90F1-E8B0D8596018}"/>
              </a:ext>
            </a:extLst>
          </p:cNvPr>
          <p:cNvSpPr>
            <a:spLocks noGrp="1"/>
          </p:cNvSpPr>
          <p:nvPr/>
        </p:nvSpPr>
        <p:spPr>
          <a:xfrm>
            <a:off x="714375" y="619125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FFFFFF"/>
                </a:solidFill>
              </a:defRPr>
            </a:defPPr>
          </a:lstStyle>
          <a:p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Centro de Socioeconomia e Planejamento Agrícola | 2026</a:t>
            </a:r>
          </a:p>
        </p:txBody>
      </p:sp>
    </p:spTree>
    <p:extLst>
      <p:ext uri="{BB962C8B-B14F-4D97-AF65-F5344CB8AC3E}">
        <p14:creationId xmlns:p14="http://schemas.microsoft.com/office/powerpoint/2010/main" val="197305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0715E0C4-8B91-477F-9274-AA372863FD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F9B3E836-4C33-40C4-ABA0-74E5FC621958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Pergunta orientadora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4960EB84-A3A1-4A1E-8157-1BE307EE7905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Uma questão institucional para guiar a discussão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14F04316-07E9-4337-B466-463CFE47A3F6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6D838F4D-EFA0-4DA2-96B9-66B9928E67DC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58538525-5148-4EAF-AD4F-07A9D77A3CF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02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F84C333D-F5B6-4F41-9587-F1B383E0C113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1038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850" b="1">
                <a:solidFill>
                  <a:srgbClr val="115E3F"/>
                </a:solidFill>
              </a:defRPr>
            </a:defPPr>
          </a:lstStyle>
          <a:p>
            <a:pPr algn="l">
              <a:defRPr sz="2850" b="1">
                <a:solidFill>
                  <a:srgbClr val="115E3F"/>
                </a:solidFill>
              </a:defRPr>
            </a:pPr>
            <a:r>
              <a:rPr sz="2850" b="1">
                <a:solidFill>
                  <a:srgbClr val="115E3F"/>
                </a:solidFill>
              </a:rPr>
              <a:t>Como garantir que os dados do CEPA se transformem em produtos confiáveis, rastreáveis e sustentáveis ao longo do tempo?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E34FB648-CEB8-4CB0-B53F-73B5BCE5B9F9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2476500" cy="57150"/>
          </a:xfrm>
          <a:prstGeom prst="rect">
            <a:avLst/>
          </a:prstGeom>
          <a:solidFill>
            <a:srgbClr val="ED1C24"/>
          </a:solidFill>
          <a:ln w="9525">
            <a:solidFill>
              <a:srgbClr val="ED1C24"/>
            </a:solidFill>
            <a:prstDash val="solid"/>
          </a:ln>
        </p:spPr>
      </p:sp>
      <p:sp>
        <p:nvSpPr>
          <p:cNvPr id="9" name="Retângulo de cantos arredondados 8">
            <a:extLst>
              <a:ext uri="{FF2B5EF4-FFF2-40B4-BE49-F238E27FC236}">
                <a16:creationId xmlns:a16="http://schemas.microsoft.com/office/drawing/2014/main" xmlns="" id="{124F8ABA-D383-4171-9917-A1571A55EEB8}"/>
              </a:ext>
            </a:extLst>
          </p:cNvPr>
          <p:cNvSpPr>
            <a:spLocks noGrp="1"/>
          </p:cNvSpPr>
          <p:nvPr/>
        </p:nvSpPr>
        <p:spPr>
          <a:xfrm>
            <a:off x="904875" y="4000500"/>
            <a:ext cx="3143250" cy="1476375"/>
          </a:xfrm>
          <a:prstGeom prst="roundRect">
            <a:avLst>
              <a:gd name="adj" fmla="val 7742"/>
            </a:avLst>
          </a:prstGeom>
          <a:solidFill>
            <a:srgbClr val="FBEAEC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246FC1E4-7D8A-4D0F-8492-F567C62B0D3A}"/>
              </a:ext>
            </a:extLst>
          </p:cNvPr>
          <p:cNvSpPr>
            <a:spLocks noGrp="1"/>
          </p:cNvSpPr>
          <p:nvPr/>
        </p:nvSpPr>
        <p:spPr>
          <a:xfrm>
            <a:off x="904875" y="4000500"/>
            <a:ext cx="66675" cy="1476375"/>
          </a:xfrm>
          <a:prstGeom prst="rect">
            <a:avLst/>
          </a:prstGeom>
          <a:solidFill>
            <a:srgbClr val="ED1C24"/>
          </a:solidFill>
          <a:ln w="9525">
            <a:solidFill>
              <a:srgbClr val="ED1C24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3547C4FE-BD6B-495D-80CF-D2040DC83AAD}"/>
              </a:ext>
            </a:extLst>
          </p:cNvPr>
          <p:cNvSpPr>
            <a:spLocks noGrp="1"/>
          </p:cNvSpPr>
          <p:nvPr/>
        </p:nvSpPr>
        <p:spPr>
          <a:xfrm>
            <a:off x="1133475" y="4143375"/>
            <a:ext cx="2743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ED1C24"/>
                </a:solidFill>
              </a:defRPr>
            </a:defPPr>
          </a:lstStyle>
          <a:p>
            <a:pPr algn="l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Observação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D1FB6614-50E4-483E-BEB0-E12FA4122D3B}"/>
              </a:ext>
            </a:extLst>
          </p:cNvPr>
          <p:cNvSpPr>
            <a:spLocks noGrp="1"/>
          </p:cNvSpPr>
          <p:nvPr/>
        </p:nvSpPr>
        <p:spPr>
          <a:xfrm>
            <a:off x="1133475" y="4514850"/>
            <a:ext cx="27432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Existem dados, ferramentas e conhecimento técnico, mas permanece uma lacuna entre as fontes e os produtos.</a:t>
            </a:r>
          </a:p>
        </p:txBody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932877DF-5F09-427B-8ABD-1D52541F8C5D}"/>
              </a:ext>
            </a:extLst>
          </p:cNvPr>
          <p:cNvSpPr>
            <a:spLocks noGrp="1"/>
          </p:cNvSpPr>
          <p:nvPr/>
        </p:nvSpPr>
        <p:spPr>
          <a:xfrm>
            <a:off x="4524375" y="4000500"/>
            <a:ext cx="3143250" cy="1476375"/>
          </a:xfrm>
          <a:prstGeom prst="roundRect">
            <a:avLst>
              <a:gd name="adj" fmla="val 7742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BACCD42B-0938-42BF-AE55-6A1A4A43DA1F}"/>
              </a:ext>
            </a:extLst>
          </p:cNvPr>
          <p:cNvSpPr>
            <a:spLocks noGrp="1"/>
          </p:cNvSpPr>
          <p:nvPr/>
        </p:nvSpPr>
        <p:spPr>
          <a:xfrm>
            <a:off x="4524375" y="4000500"/>
            <a:ext cx="66675" cy="147637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5A3760E4-CFD6-47DF-9943-1827B7136618}"/>
              </a:ext>
            </a:extLst>
          </p:cNvPr>
          <p:cNvSpPr>
            <a:spLocks noGrp="1"/>
          </p:cNvSpPr>
          <p:nvPr/>
        </p:nvSpPr>
        <p:spPr>
          <a:xfrm>
            <a:off x="4752975" y="4143375"/>
            <a:ext cx="2743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15E3F"/>
                </a:solidFill>
              </a:defRPr>
            </a:defPPr>
          </a:lstStyle>
          <a:p>
            <a:pPr algn="l">
              <a:defRPr sz="1350" b="1">
                <a:solidFill>
                  <a:srgbClr val="115E3F"/>
                </a:solidFill>
              </a:defRPr>
            </a:pPr>
            <a:r>
              <a:rPr sz="1350" b="1">
                <a:solidFill>
                  <a:srgbClr val="115E3F"/>
                </a:solidFill>
              </a:rPr>
              <a:t>Hipótese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D97ADA45-17F6-40FB-9F94-0DCE06E78299}"/>
              </a:ext>
            </a:extLst>
          </p:cNvPr>
          <p:cNvSpPr>
            <a:spLocks noGrp="1"/>
          </p:cNvSpPr>
          <p:nvPr/>
        </p:nvSpPr>
        <p:spPr>
          <a:xfrm>
            <a:off x="4752975" y="4514850"/>
            <a:ext cx="27432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Uma camada de integração e governança reduz retrabalho, risco e dependência de pessoas.</a:t>
            </a:r>
          </a:p>
        </p:txBody>
      </p:sp>
      <p:sp>
        <p:nvSpPr>
          <p:cNvPr id="17" name="Retângulo de cantos arredondados 16">
            <a:extLst>
              <a:ext uri="{FF2B5EF4-FFF2-40B4-BE49-F238E27FC236}">
                <a16:creationId xmlns:a16="http://schemas.microsoft.com/office/drawing/2014/main" xmlns="" id="{BE8BA2C3-FBF1-4D73-B61A-35074B345FA6}"/>
              </a:ext>
            </a:extLst>
          </p:cNvPr>
          <p:cNvSpPr>
            <a:spLocks noGrp="1"/>
          </p:cNvSpPr>
          <p:nvPr/>
        </p:nvSpPr>
        <p:spPr>
          <a:xfrm>
            <a:off x="8143875" y="4000500"/>
            <a:ext cx="3143250" cy="1476375"/>
          </a:xfrm>
          <a:prstGeom prst="roundRect">
            <a:avLst>
              <a:gd name="adj" fmla="val 7742"/>
            </a:avLst>
          </a:prstGeom>
          <a:solidFill>
            <a:srgbClr val="EEF4E8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C79AA161-4673-4CE3-8350-13853EBAD164}"/>
              </a:ext>
            </a:extLst>
          </p:cNvPr>
          <p:cNvSpPr>
            <a:spLocks noGrp="1"/>
          </p:cNvSpPr>
          <p:nvPr/>
        </p:nvSpPr>
        <p:spPr>
          <a:xfrm>
            <a:off x="8143875" y="4000500"/>
            <a:ext cx="66675" cy="1476375"/>
          </a:xfrm>
          <a:prstGeom prst="rect">
            <a:avLst/>
          </a:prstGeom>
          <a:solidFill>
            <a:srgbClr val="248029"/>
          </a:solidFill>
          <a:ln w="9525">
            <a:solidFill>
              <a:srgbClr val="248029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ED87A8CC-C11F-4823-A838-3E8A572F53EB}"/>
              </a:ext>
            </a:extLst>
          </p:cNvPr>
          <p:cNvSpPr>
            <a:spLocks noGrp="1"/>
          </p:cNvSpPr>
          <p:nvPr/>
        </p:nvSpPr>
        <p:spPr>
          <a:xfrm>
            <a:off x="8372475" y="4143375"/>
            <a:ext cx="2743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248029"/>
                </a:solidFill>
              </a:defRPr>
            </a:defPPr>
          </a:lstStyle>
          <a:p>
            <a:pPr algn="l">
              <a:defRPr sz="1350" b="1">
                <a:solidFill>
                  <a:srgbClr val="248029"/>
                </a:solidFill>
              </a:defRPr>
            </a:pPr>
            <a:r>
              <a:rPr sz="1350" b="1">
                <a:solidFill>
                  <a:srgbClr val="248029"/>
                </a:solidFill>
              </a:rPr>
              <a:t>Verificação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BB75E069-7BC4-4597-92AE-1542E654DDD2}"/>
              </a:ext>
            </a:extLst>
          </p:cNvPr>
          <p:cNvSpPr>
            <a:spLocks noGrp="1"/>
          </p:cNvSpPr>
          <p:nvPr/>
        </p:nvSpPr>
        <p:spPr>
          <a:xfrm>
            <a:off x="8372475" y="4514850"/>
            <a:ext cx="27432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A arquitetura pode ser implantada de forma incremental e avaliada por entregas concretas.</a:t>
            </a:r>
          </a:p>
        </p:txBody>
      </p:sp>
    </p:spTree>
    <p:extLst>
      <p:ext uri="{BB962C8B-B14F-4D97-AF65-F5344CB8AC3E}">
        <p14:creationId xmlns:p14="http://schemas.microsoft.com/office/powerpoint/2010/main" val="208335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xmlns="" id="{C91C2D8F-6D96-43C0-AC95-B74D576C9A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86AFB70D-65FE-4EAC-8D00-5C7342B9DBDB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Os dados sustentam as entregas do CEPA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AAF14512-289E-4621-8A97-186B073AB284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O conhecimento dos analistas transforma registros dispersos em informação para Santa Catarina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D3749ECA-4427-4BD3-B620-3D69C734ADCB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BC52201A-9470-432F-B8D9-1C29414DA33E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09F2F9BF-6CB0-4FAF-B3D3-A1CB1B515A1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03</a:t>
            </a: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5BEC433F-3268-4150-B439-89E286E7FE00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FBEAEC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8" name="Elipse 7">
            <a:extLst>
              <a:ext uri="{FF2B5EF4-FFF2-40B4-BE49-F238E27FC236}">
                <a16:creationId xmlns:a16="http://schemas.microsoft.com/office/drawing/2014/main" xmlns="" id="{4574F5C2-EE08-472A-BF43-E6D1591D1210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323850" cy="323850"/>
          </a:xfrm>
          <a:prstGeom prst="ellipse">
            <a:avLst/>
          </a:prstGeom>
          <a:solidFill>
            <a:srgbClr val="ED1C24"/>
          </a:solidFill>
          <a:ln w="0">
            <a:solidFill>
              <a:srgbClr val="ED1C24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2BC6656B-B1F4-48FE-8FAA-2A68A43540EC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DD8167B5-ADD0-406C-A868-125E53FF236A}"/>
              </a:ext>
            </a:extLst>
          </p:cNvPr>
          <p:cNvSpPr>
            <a:spLocks noGrp="1"/>
          </p:cNvSpPr>
          <p:nvPr/>
        </p:nvSpPr>
        <p:spPr>
          <a:xfrm>
            <a:off x="847725" y="3000375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ED1C24"/>
                </a:solidFill>
              </a:defRPr>
            </a:defPPr>
          </a:lstStyle>
          <a:p>
            <a:pPr algn="l">
              <a:defRPr sz="1275" b="1">
                <a:solidFill>
                  <a:srgbClr val="ED1C24"/>
                </a:solidFill>
              </a:defRPr>
            </a:pPr>
            <a:r>
              <a:rPr sz="1275" b="1">
                <a:solidFill>
                  <a:srgbClr val="ED1C24"/>
                </a:solidFill>
              </a:rPr>
              <a:t>FONTES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C0705EE5-9E56-4E06-AB87-292DC758DBA0}"/>
              </a:ext>
            </a:extLst>
          </p:cNvPr>
          <p:cNvSpPr>
            <a:spLocks noGrp="1"/>
          </p:cNvSpPr>
          <p:nvPr/>
        </p:nvSpPr>
        <p:spPr>
          <a:xfrm>
            <a:off x="847725" y="3476625"/>
            <a:ext cx="1952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Dados públicos, administrativos, levantamentos e séries históricas</a:t>
            </a:r>
          </a:p>
        </p:txBody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xmlns="" id="{D9561853-51AC-4F42-9769-593B4FA83EF3}"/>
              </a:ext>
            </a:extLst>
          </p:cNvPr>
          <p:cNvSpPr>
            <a:spLocks noGrp="1"/>
          </p:cNvSpPr>
          <p:nvPr/>
        </p:nvSpPr>
        <p:spPr>
          <a:xfrm>
            <a:off x="3019425" y="3381375"/>
            <a:ext cx="342900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xmlns="" id="{8DB7176E-B70B-4E36-8EAE-A6C37788EA68}"/>
              </a:ext>
            </a:extLst>
          </p:cNvPr>
          <p:cNvSpPr>
            <a:spLocks noGrp="1"/>
          </p:cNvSpPr>
          <p:nvPr/>
        </p:nvSpPr>
        <p:spPr>
          <a:xfrm>
            <a:off x="3267075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xmlns="" id="{4769B69F-9C9B-41EC-8615-34FF691F6A90}"/>
              </a:ext>
            </a:extLst>
          </p:cNvPr>
          <p:cNvSpPr>
            <a:spLocks noGrp="1"/>
          </p:cNvSpPr>
          <p:nvPr/>
        </p:nvSpPr>
        <p:spPr>
          <a:xfrm>
            <a:off x="3267075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5" name="Retângulo de cantos arredondados 14">
            <a:extLst>
              <a:ext uri="{FF2B5EF4-FFF2-40B4-BE49-F238E27FC236}">
                <a16:creationId xmlns:a16="http://schemas.microsoft.com/office/drawing/2014/main" xmlns="" id="{0EFDFB3C-DAEA-459F-AE5F-F0E68057E1FD}"/>
              </a:ext>
            </a:extLst>
          </p:cNvPr>
          <p:cNvSpPr>
            <a:spLocks noGrp="1"/>
          </p:cNvSpPr>
          <p:nvPr/>
        </p:nvSpPr>
        <p:spPr>
          <a:xfrm>
            <a:off x="3505200" y="2238375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xmlns="" id="{6DDD4440-3ED2-431B-AEBA-03B70E3D8C0F}"/>
              </a:ext>
            </a:extLst>
          </p:cNvPr>
          <p:cNvSpPr>
            <a:spLocks noGrp="1"/>
          </p:cNvSpPr>
          <p:nvPr/>
        </p:nvSpPr>
        <p:spPr>
          <a:xfrm>
            <a:off x="3705225" y="2457450"/>
            <a:ext cx="323850" cy="32385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7BBE0852-C281-4C97-A2E0-06EB245881F3}"/>
              </a:ext>
            </a:extLst>
          </p:cNvPr>
          <p:cNvSpPr>
            <a:spLocks noGrp="1"/>
          </p:cNvSpPr>
          <p:nvPr/>
        </p:nvSpPr>
        <p:spPr>
          <a:xfrm>
            <a:off x="3705225" y="2457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B7F43D62-4047-403D-A87E-62D41AB08542}"/>
              </a:ext>
            </a:extLst>
          </p:cNvPr>
          <p:cNvSpPr>
            <a:spLocks noGrp="1"/>
          </p:cNvSpPr>
          <p:nvPr/>
        </p:nvSpPr>
        <p:spPr>
          <a:xfrm>
            <a:off x="3733800" y="3000375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CONHECIMENTO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834A7A52-E8BD-491E-BBF9-012D7F6E4294}"/>
              </a:ext>
            </a:extLst>
          </p:cNvPr>
          <p:cNvSpPr>
            <a:spLocks noGrp="1"/>
          </p:cNvSpPr>
          <p:nvPr/>
        </p:nvSpPr>
        <p:spPr>
          <a:xfrm>
            <a:off x="3733800" y="3476625"/>
            <a:ext cx="1952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Interpretação das cadeias, conceitos e validação</a:t>
            </a: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xmlns="" id="{32086222-F902-4A00-A19B-7BFE7A94DC53}"/>
              </a:ext>
            </a:extLst>
          </p:cNvPr>
          <p:cNvSpPr>
            <a:spLocks noGrp="1"/>
          </p:cNvSpPr>
          <p:nvPr/>
        </p:nvSpPr>
        <p:spPr>
          <a:xfrm>
            <a:off x="5905500" y="3381375"/>
            <a:ext cx="342900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xmlns="" id="{4E432D56-CCBA-451B-AD90-4F200AE64264}"/>
              </a:ext>
            </a:extLst>
          </p:cNvPr>
          <p:cNvSpPr>
            <a:spLocks noGrp="1"/>
          </p:cNvSpPr>
          <p:nvPr/>
        </p:nvSpPr>
        <p:spPr>
          <a:xfrm>
            <a:off x="6153150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xmlns="" id="{824B733E-45CC-417A-920E-EB1F258C0605}"/>
              </a:ext>
            </a:extLst>
          </p:cNvPr>
          <p:cNvSpPr>
            <a:spLocks noGrp="1"/>
          </p:cNvSpPr>
          <p:nvPr/>
        </p:nvSpPr>
        <p:spPr>
          <a:xfrm>
            <a:off x="6153150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3" name="Retângulo de cantos arredondados 22">
            <a:extLst>
              <a:ext uri="{FF2B5EF4-FFF2-40B4-BE49-F238E27FC236}">
                <a16:creationId xmlns:a16="http://schemas.microsoft.com/office/drawing/2014/main" xmlns="" id="{E84C5148-A4FB-46E9-AE29-A24A00DE26DA}"/>
              </a:ext>
            </a:extLst>
          </p:cNvPr>
          <p:cNvSpPr>
            <a:spLocks noGrp="1"/>
          </p:cNvSpPr>
          <p:nvPr/>
        </p:nvSpPr>
        <p:spPr>
          <a:xfrm>
            <a:off x="6391275" y="2238375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F7EFEF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xmlns="" id="{5885935E-9583-438D-9F52-A3399B5C3246}"/>
              </a:ext>
            </a:extLst>
          </p:cNvPr>
          <p:cNvSpPr>
            <a:spLocks noGrp="1"/>
          </p:cNvSpPr>
          <p:nvPr/>
        </p:nvSpPr>
        <p:spPr>
          <a:xfrm>
            <a:off x="6591300" y="2457450"/>
            <a:ext cx="323850" cy="323850"/>
          </a:xfrm>
          <a:prstGeom prst="ellipse">
            <a:avLst/>
          </a:prstGeom>
          <a:solidFill>
            <a:srgbClr val="ED1C24"/>
          </a:solidFill>
          <a:ln w="0">
            <a:solidFill>
              <a:srgbClr val="ED1C24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xmlns="" id="{54D51275-1C8B-4534-9E49-FC413D6454BD}"/>
              </a:ext>
            </a:extLst>
          </p:cNvPr>
          <p:cNvSpPr>
            <a:spLocks noGrp="1"/>
          </p:cNvSpPr>
          <p:nvPr/>
        </p:nvSpPr>
        <p:spPr>
          <a:xfrm>
            <a:off x="6591300" y="2457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xmlns="" id="{BCB52CAE-A504-4C03-BF8A-19915BC0F416}"/>
              </a:ext>
            </a:extLst>
          </p:cNvPr>
          <p:cNvSpPr>
            <a:spLocks noGrp="1"/>
          </p:cNvSpPr>
          <p:nvPr/>
        </p:nvSpPr>
        <p:spPr>
          <a:xfrm>
            <a:off x="6619875" y="3000375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ED1C24"/>
                </a:solidFill>
              </a:defRPr>
            </a:defPPr>
          </a:lstStyle>
          <a:p>
            <a:pPr algn="l">
              <a:defRPr sz="1275" b="1">
                <a:solidFill>
                  <a:srgbClr val="ED1C24"/>
                </a:solidFill>
              </a:defRPr>
            </a:pPr>
            <a:r>
              <a:rPr sz="1275" b="1">
                <a:solidFill>
                  <a:srgbClr val="ED1C24"/>
                </a:solidFill>
              </a:rPr>
              <a:t>PRODUTOS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xmlns="" id="{40BD83C1-B473-4865-859D-FE9248CE0F0F}"/>
              </a:ext>
            </a:extLst>
          </p:cNvPr>
          <p:cNvSpPr>
            <a:spLocks noGrp="1"/>
          </p:cNvSpPr>
          <p:nvPr/>
        </p:nvSpPr>
        <p:spPr>
          <a:xfrm>
            <a:off x="6619875" y="3476625"/>
            <a:ext cx="1952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Boletins, painéis, estudos e suporte institucional</a:t>
            </a:r>
          </a:p>
        </p:txBody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xmlns="" id="{AD94EE27-4BAC-4AAF-A851-1D6A5BBF8413}"/>
              </a:ext>
            </a:extLst>
          </p:cNvPr>
          <p:cNvSpPr>
            <a:spLocks noGrp="1"/>
          </p:cNvSpPr>
          <p:nvPr/>
        </p:nvSpPr>
        <p:spPr>
          <a:xfrm>
            <a:off x="8791575" y="3381375"/>
            <a:ext cx="342900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xmlns="" id="{1306DFFD-8BA0-4684-8266-145DF8A42AFE}"/>
              </a:ext>
            </a:extLst>
          </p:cNvPr>
          <p:cNvSpPr>
            <a:spLocks noGrp="1"/>
          </p:cNvSpPr>
          <p:nvPr/>
        </p:nvSpPr>
        <p:spPr>
          <a:xfrm>
            <a:off x="9039225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xmlns="" id="{2ED664E6-998B-479C-BBA1-2874C215D1BD}"/>
              </a:ext>
            </a:extLst>
          </p:cNvPr>
          <p:cNvSpPr>
            <a:spLocks noGrp="1"/>
          </p:cNvSpPr>
          <p:nvPr/>
        </p:nvSpPr>
        <p:spPr>
          <a:xfrm>
            <a:off x="9039225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31" name="Retângulo de cantos arredondados 30">
            <a:extLst>
              <a:ext uri="{FF2B5EF4-FFF2-40B4-BE49-F238E27FC236}">
                <a16:creationId xmlns:a16="http://schemas.microsoft.com/office/drawing/2014/main" xmlns="" id="{9F77A676-90FB-4686-9313-24B7D7B0BCF1}"/>
              </a:ext>
            </a:extLst>
          </p:cNvPr>
          <p:cNvSpPr>
            <a:spLocks noGrp="1"/>
          </p:cNvSpPr>
          <p:nvPr/>
        </p:nvSpPr>
        <p:spPr>
          <a:xfrm>
            <a:off x="9277350" y="2238375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EEF4E8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xmlns="" id="{3B15ACE6-4A19-4C52-87E8-7D679782CA88}"/>
              </a:ext>
            </a:extLst>
          </p:cNvPr>
          <p:cNvSpPr>
            <a:spLocks noGrp="1"/>
          </p:cNvSpPr>
          <p:nvPr/>
        </p:nvSpPr>
        <p:spPr>
          <a:xfrm>
            <a:off x="9477375" y="2457450"/>
            <a:ext cx="323850" cy="323850"/>
          </a:xfrm>
          <a:prstGeom prst="ellipse">
            <a:avLst/>
          </a:prstGeom>
          <a:solidFill>
            <a:srgbClr val="248029"/>
          </a:solidFill>
          <a:ln w="0">
            <a:solidFill>
              <a:srgbClr val="248029"/>
            </a:solidFill>
            <a:prstDash val="solid"/>
          </a:ln>
        </p:spPr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xmlns="" id="{7F394BDD-C385-4C1C-9FD0-FD26BD438712}"/>
              </a:ext>
            </a:extLst>
          </p:cNvPr>
          <p:cNvSpPr>
            <a:spLocks noGrp="1"/>
          </p:cNvSpPr>
          <p:nvPr/>
        </p:nvSpPr>
        <p:spPr>
          <a:xfrm>
            <a:off x="9477375" y="2457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xmlns="" id="{D02AE113-3082-4DA7-A930-42AE2C51990B}"/>
              </a:ext>
            </a:extLst>
          </p:cNvPr>
          <p:cNvSpPr>
            <a:spLocks noGrp="1"/>
          </p:cNvSpPr>
          <p:nvPr/>
        </p:nvSpPr>
        <p:spPr>
          <a:xfrm>
            <a:off x="9505950" y="3000375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248029"/>
                </a:solidFill>
              </a:defRPr>
            </a:defPPr>
          </a:lstStyle>
          <a:p>
            <a:pPr algn="l">
              <a:defRPr sz="1275" b="1">
                <a:solidFill>
                  <a:srgbClr val="248029"/>
                </a:solidFill>
              </a:defRPr>
            </a:pPr>
            <a:r>
              <a:rPr sz="1275" b="1">
                <a:solidFill>
                  <a:srgbClr val="248029"/>
                </a:solidFill>
              </a:rPr>
              <a:t>DECISÕES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xmlns="" id="{5523C6B2-28EA-4654-A69F-DBAAE71C808C}"/>
              </a:ext>
            </a:extLst>
          </p:cNvPr>
          <p:cNvSpPr>
            <a:spLocks noGrp="1"/>
          </p:cNvSpPr>
          <p:nvPr/>
        </p:nvSpPr>
        <p:spPr>
          <a:xfrm>
            <a:off x="9505950" y="3476625"/>
            <a:ext cx="1952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Planejamento, políticas públicas e acompanhamento do agro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xmlns="" id="{FCF9BD73-65BB-4E1F-B491-F02BC2D6ECA6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115E3F"/>
                </a:solidFill>
              </a:defRPr>
            </a:defPPr>
          </a:lstStyle>
          <a:p>
            <a:pPr algn="ctr">
              <a:defRPr sz="1725" b="1">
                <a:solidFill>
                  <a:srgbClr val="115E3F"/>
                </a:solidFill>
              </a:defRPr>
            </a:pPr>
            <a:r>
              <a:rPr sz="1725" b="1">
                <a:solidFill>
                  <a:srgbClr val="115E3F"/>
                </a:solidFill>
              </a:rPr>
              <a:t>A governança organiza essa cadeia de valor e preserva o conhecimento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1029031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11FA43CF-4922-43CC-BA62-19A1BA20D9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E7974A4-DC9A-46AB-A687-5F5E1094B8CE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O ambiente atual já possui ativos importantes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xmlns="" id="{08D5A021-ADB5-4214-9D55-B0FE5B81DE00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841E848C-5E16-48D3-8BA2-FA585A914120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17EBB632-1807-4EB0-8CCA-0763163FBCC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04</a:t>
            </a:r>
          </a:p>
        </p:txBody>
      </p:sp>
      <p:sp>
        <p:nvSpPr>
          <p:cNvPr id="6" name="Retângulo de cantos arredondados 5">
            <a:extLst>
              <a:ext uri="{FF2B5EF4-FFF2-40B4-BE49-F238E27FC236}">
                <a16:creationId xmlns:a16="http://schemas.microsoft.com/office/drawing/2014/main" xmlns="" id="{716D2E80-9F63-40B9-9C0D-44980BAC626A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3143250" cy="1619250"/>
          </a:xfrm>
          <a:prstGeom prst="roundRect">
            <a:avLst>
              <a:gd name="adj" fmla="val 7059"/>
            </a:avLst>
          </a:prstGeom>
          <a:solidFill>
            <a:srgbClr val="FBEAEC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466D800C-CFB5-4B15-AA30-689089A73261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66675" cy="1619250"/>
          </a:xfrm>
          <a:prstGeom prst="rect">
            <a:avLst/>
          </a:prstGeom>
          <a:solidFill>
            <a:srgbClr val="ED1C24"/>
          </a:solidFill>
          <a:ln w="9525">
            <a:solidFill>
              <a:srgbClr val="ED1C24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738A9B97-B3F1-4D57-93A0-34F85AE378BD}"/>
              </a:ext>
            </a:extLst>
          </p:cNvPr>
          <p:cNvSpPr>
            <a:spLocks noGrp="1"/>
          </p:cNvSpPr>
          <p:nvPr/>
        </p:nvSpPr>
        <p:spPr>
          <a:xfrm>
            <a:off x="942975" y="2333625"/>
            <a:ext cx="2743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ED1C24"/>
                </a:solidFill>
              </a:defRPr>
            </a:defPPr>
          </a:lstStyle>
          <a:p>
            <a:pPr algn="l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Data Lake no CIASC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9211ABA2-0113-423D-B07E-4E1D8D8D9D27}"/>
              </a:ext>
            </a:extLst>
          </p:cNvPr>
          <p:cNvSpPr>
            <a:spLocks noGrp="1"/>
          </p:cNvSpPr>
          <p:nvPr/>
        </p:nvSpPr>
        <p:spPr>
          <a:xfrm>
            <a:off x="942975" y="2705100"/>
            <a:ext cx="2743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Armazenamento das fontes e capacidade de processamento no ambiente estadual.</a:t>
            </a:r>
          </a:p>
        </p:txBody>
      </p:sp>
      <p:sp>
        <p:nvSpPr>
          <p:cNvPr id="10" name="Retângulo de cantos arredondados 9">
            <a:extLst>
              <a:ext uri="{FF2B5EF4-FFF2-40B4-BE49-F238E27FC236}">
                <a16:creationId xmlns:a16="http://schemas.microsoft.com/office/drawing/2014/main" xmlns="" id="{1B747DDB-0117-4672-AA2A-6D1E3E795119}"/>
              </a:ext>
            </a:extLst>
          </p:cNvPr>
          <p:cNvSpPr>
            <a:spLocks noGrp="1"/>
          </p:cNvSpPr>
          <p:nvPr/>
        </p:nvSpPr>
        <p:spPr>
          <a:xfrm>
            <a:off x="4524375" y="2190750"/>
            <a:ext cx="3143250" cy="1619250"/>
          </a:xfrm>
          <a:prstGeom prst="roundRect">
            <a:avLst>
              <a:gd name="adj" fmla="val 7059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BD41B3B3-8872-431C-B165-9B896429CB65}"/>
              </a:ext>
            </a:extLst>
          </p:cNvPr>
          <p:cNvSpPr>
            <a:spLocks noGrp="1"/>
          </p:cNvSpPr>
          <p:nvPr/>
        </p:nvSpPr>
        <p:spPr>
          <a:xfrm>
            <a:off x="4524375" y="2190750"/>
            <a:ext cx="66675" cy="1619250"/>
          </a:xfrm>
          <a:prstGeom prst="rect">
            <a:avLst/>
          </a:prstGeom>
          <a:solidFill>
            <a:srgbClr val="1B6E62"/>
          </a:solidFill>
          <a:ln w="9525">
            <a:solidFill>
              <a:srgbClr val="1B6E62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44EA3211-3780-429C-B9ED-B3050B20AB9C}"/>
              </a:ext>
            </a:extLst>
          </p:cNvPr>
          <p:cNvSpPr>
            <a:spLocks noGrp="1"/>
          </p:cNvSpPr>
          <p:nvPr/>
        </p:nvSpPr>
        <p:spPr>
          <a:xfrm>
            <a:off x="4752975" y="2333625"/>
            <a:ext cx="2743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B6E62"/>
                </a:solidFill>
              </a:defRPr>
            </a:defPPr>
          </a:lstStyle>
          <a:p>
            <a:pPr algn="l">
              <a:defRPr sz="1350" b="1">
                <a:solidFill>
                  <a:srgbClr val="1B6E62"/>
                </a:solidFill>
              </a:defRPr>
            </a:pPr>
            <a:r>
              <a:rPr sz="1350" b="1">
                <a:solidFill>
                  <a:srgbClr val="1B6E62"/>
                </a:solidFill>
              </a:rPr>
              <a:t>Impala e Hue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E8B562A3-D7C1-4415-AE7D-DAF9B0C8238F}"/>
              </a:ext>
            </a:extLst>
          </p:cNvPr>
          <p:cNvSpPr>
            <a:spLocks noGrp="1"/>
          </p:cNvSpPr>
          <p:nvPr/>
        </p:nvSpPr>
        <p:spPr>
          <a:xfrm>
            <a:off x="4752975" y="2705100"/>
            <a:ext cx="2743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Consultas SQL, transformação de dados e geração de tabelas para análise.</a:t>
            </a:r>
          </a:p>
        </p:txBody>
      </p:sp>
      <p:sp>
        <p:nvSpPr>
          <p:cNvPr id="14" name="Retângulo de cantos arredondados 13">
            <a:extLst>
              <a:ext uri="{FF2B5EF4-FFF2-40B4-BE49-F238E27FC236}">
                <a16:creationId xmlns:a16="http://schemas.microsoft.com/office/drawing/2014/main" xmlns="" id="{D028FBC7-024C-493B-8622-83DF12FAF494}"/>
              </a:ext>
            </a:extLst>
          </p:cNvPr>
          <p:cNvSpPr>
            <a:spLocks noGrp="1"/>
          </p:cNvSpPr>
          <p:nvPr/>
        </p:nvSpPr>
        <p:spPr>
          <a:xfrm>
            <a:off x="8334375" y="2190750"/>
            <a:ext cx="3143250" cy="1619250"/>
          </a:xfrm>
          <a:prstGeom prst="roundRect">
            <a:avLst>
              <a:gd name="adj" fmla="val 7059"/>
            </a:avLst>
          </a:prstGeom>
          <a:solidFill>
            <a:srgbClr val="EEF4E8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6FF0FCCD-BC29-43EA-BA8C-E4117CAC1E95}"/>
              </a:ext>
            </a:extLst>
          </p:cNvPr>
          <p:cNvSpPr>
            <a:spLocks noGrp="1"/>
          </p:cNvSpPr>
          <p:nvPr/>
        </p:nvSpPr>
        <p:spPr>
          <a:xfrm>
            <a:off x="8334375" y="2190750"/>
            <a:ext cx="66675" cy="1619250"/>
          </a:xfrm>
          <a:prstGeom prst="rect">
            <a:avLst/>
          </a:prstGeom>
          <a:solidFill>
            <a:srgbClr val="248029"/>
          </a:solidFill>
          <a:ln w="9525">
            <a:solidFill>
              <a:srgbClr val="248029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F2DEF730-FEB4-4704-B668-64527F50982A}"/>
              </a:ext>
            </a:extLst>
          </p:cNvPr>
          <p:cNvSpPr>
            <a:spLocks noGrp="1"/>
          </p:cNvSpPr>
          <p:nvPr/>
        </p:nvSpPr>
        <p:spPr>
          <a:xfrm>
            <a:off x="8562975" y="2333625"/>
            <a:ext cx="2743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248029"/>
                </a:solidFill>
              </a:defRPr>
            </a:defPPr>
          </a:lstStyle>
          <a:p>
            <a:pPr algn="l">
              <a:defRPr sz="1350" b="1">
                <a:solidFill>
                  <a:srgbClr val="248029"/>
                </a:solidFill>
              </a:defRPr>
            </a:pPr>
            <a:r>
              <a:rPr sz="1350" b="1">
                <a:solidFill>
                  <a:srgbClr val="248029"/>
                </a:solidFill>
              </a:rPr>
              <a:t>Power BI, Excel e 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9F1FE066-DA20-41B2-AF97-E8449B6981B5}"/>
              </a:ext>
            </a:extLst>
          </p:cNvPr>
          <p:cNvSpPr>
            <a:spLocks noGrp="1"/>
          </p:cNvSpPr>
          <p:nvPr/>
        </p:nvSpPr>
        <p:spPr>
          <a:xfrm>
            <a:off x="8562975" y="2705100"/>
            <a:ext cx="2743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Painéis, planilhas e análises realizadas pelos especialistas do CEPA.</a:t>
            </a:r>
          </a:p>
        </p:txBody>
      </p:sp>
      <p:sp>
        <p:nvSpPr>
          <p:cNvPr id="18" name="Retângulo de cantos arredondados 17">
            <a:extLst>
              <a:ext uri="{FF2B5EF4-FFF2-40B4-BE49-F238E27FC236}">
                <a16:creationId xmlns:a16="http://schemas.microsoft.com/office/drawing/2014/main" xmlns="" id="{53210160-BFC4-4BB9-A2B7-ED0BD06FAE58}"/>
              </a:ext>
            </a:extLst>
          </p:cNvPr>
          <p:cNvSpPr>
            <a:spLocks noGrp="1"/>
          </p:cNvSpPr>
          <p:nvPr/>
        </p:nvSpPr>
        <p:spPr>
          <a:xfrm>
            <a:off x="1619250" y="4429125"/>
            <a:ext cx="8953500" cy="1095375"/>
          </a:xfrm>
          <a:prstGeom prst="roundRect">
            <a:avLst>
              <a:gd name="adj" fmla="val 10435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F86AD8E0-4A4E-410C-8814-E0351C74316A}"/>
              </a:ext>
            </a:extLst>
          </p:cNvPr>
          <p:cNvSpPr>
            <a:spLocks noGrp="1"/>
          </p:cNvSpPr>
          <p:nvPr/>
        </p:nvSpPr>
        <p:spPr>
          <a:xfrm>
            <a:off x="2047875" y="4667250"/>
            <a:ext cx="8096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15E3F"/>
                </a:solidFill>
              </a:defRPr>
            </a:defPPr>
          </a:lstStyle>
          <a:p>
            <a:pPr algn="ctr">
              <a:defRPr sz="1650" b="1">
                <a:solidFill>
                  <a:srgbClr val="115E3F"/>
                </a:solidFill>
              </a:defRPr>
            </a:pPr>
            <a:r>
              <a:rPr sz="1650" b="1">
                <a:solidFill>
                  <a:srgbClr val="115E3F"/>
                </a:solidFill>
              </a:rPr>
              <a:t>A oportunidade está na camada institucional que integra, documenta e governa o caminho entre as fontes e os produtos.</a:t>
            </a:r>
          </a:p>
        </p:txBody>
      </p:sp>
    </p:spTree>
    <p:extLst>
      <p:ext uri="{BB962C8B-B14F-4D97-AF65-F5344CB8AC3E}">
        <p14:creationId xmlns:p14="http://schemas.microsoft.com/office/powerpoint/2010/main" val="126713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6A1530B3-424B-461F-A286-165C596B8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D6DF276C-F99E-4D83-BB6E-01EE41520F8E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A lacuna entre fontes e produtos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4C6EC0F5-9809-4EE7-8B22-3A3F06E9564D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Parte das regras permanece distribuída entre consultas, planilhas, scripts e painéis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96BB7845-DD72-4551-B792-EC4AA031E747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048C9841-1B74-45CB-9A27-856C6F18608E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3A8997B6-7589-4E16-A577-98C40FE30DB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05</a:t>
            </a: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1D4FBCD5-D95C-4749-A486-F175E720B599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2428875" cy="1143000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00683EC1-EB43-4D78-8837-2C9137F41E30}"/>
              </a:ext>
            </a:extLst>
          </p:cNvPr>
          <p:cNvSpPr>
            <a:spLocks noGrp="1"/>
          </p:cNvSpPr>
          <p:nvPr/>
        </p:nvSpPr>
        <p:spPr>
          <a:xfrm>
            <a:off x="971550" y="2714625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ED1C24"/>
                </a:solidFill>
              </a:defRPr>
            </a:defPPr>
          </a:lstStyle>
          <a:p>
            <a:pPr algn="ctr">
              <a:defRPr sz="1500" b="1">
                <a:solidFill>
                  <a:srgbClr val="ED1C24"/>
                </a:solidFill>
              </a:defRPr>
            </a:pPr>
            <a:r>
              <a:rPr sz="1500" b="1">
                <a:solidFill>
                  <a:srgbClr val="ED1C24"/>
                </a:solidFill>
              </a:rPr>
              <a:t>Fontes e Data Lake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5F1E63B4-F65A-49F7-8E71-F50CA4EC91F4}"/>
              </a:ext>
            </a:extLst>
          </p:cNvPr>
          <p:cNvSpPr>
            <a:spLocks noGrp="1"/>
          </p:cNvSpPr>
          <p:nvPr/>
        </p:nvSpPr>
        <p:spPr>
          <a:xfrm>
            <a:off x="971550" y="31432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5A5858"/>
                </a:solidFill>
              </a:defRPr>
            </a:defPPr>
          </a:lstStyle>
          <a:p>
            <a:pPr algn="ctr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Dados disponíveis</a:t>
            </a:r>
          </a:p>
        </p:txBody>
      </p:sp>
      <p:sp>
        <p:nvSpPr>
          <p:cNvPr id="10" name="Retângulo de cantos arredondados 9">
            <a:extLst>
              <a:ext uri="{FF2B5EF4-FFF2-40B4-BE49-F238E27FC236}">
                <a16:creationId xmlns:a16="http://schemas.microsoft.com/office/drawing/2014/main" xmlns="" id="{CFEBA184-393D-4381-A514-3BA852590828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3143250" cy="2095500"/>
          </a:xfrm>
          <a:prstGeom prst="roundRect">
            <a:avLst>
              <a:gd name="adj" fmla="val 5455"/>
            </a:avLst>
          </a:prstGeom>
          <a:solidFill>
            <a:srgbClr val="FFF4E5"/>
          </a:solidFill>
          <a:ln w="9525">
            <a:solidFill>
              <a:srgbClr val="E2B463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0DFE0BBA-687A-4E05-B264-23FC15FE89A7}"/>
              </a:ext>
            </a:extLst>
          </p:cNvPr>
          <p:cNvSpPr>
            <a:spLocks noGrp="1"/>
          </p:cNvSpPr>
          <p:nvPr/>
        </p:nvSpPr>
        <p:spPr>
          <a:xfrm>
            <a:off x="4857750" y="22383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9A5D00"/>
                </a:solidFill>
              </a:defRPr>
            </a:defPPr>
          </a:lstStyle>
          <a:p>
            <a:pPr algn="ctr">
              <a:defRPr sz="1200" b="1">
                <a:solidFill>
                  <a:srgbClr val="9A5D00"/>
                </a:solidFill>
              </a:defRPr>
            </a:pPr>
            <a:r>
              <a:rPr sz="1200" b="1">
                <a:solidFill>
                  <a:srgbClr val="9A5D00"/>
                </a:solidFill>
              </a:rPr>
              <a:t>CAMADA A ESTRUTURAR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ED85D124-0FE4-4253-9C6A-4B4844763E06}"/>
              </a:ext>
            </a:extLst>
          </p:cNvPr>
          <p:cNvSpPr>
            <a:spLocks noGrp="1"/>
          </p:cNvSpPr>
          <p:nvPr/>
        </p:nvSpPr>
        <p:spPr>
          <a:xfrm>
            <a:off x="4953000" y="2714625"/>
            <a:ext cx="228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Modelagem integrada</a:t>
            </a:r>
          </a:p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Catálogo e dicionários</a:t>
            </a:r>
          </a:p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De-Para institucional</a:t>
            </a:r>
          </a:p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Linhagem e análise de impacto</a:t>
            </a:r>
          </a:p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Versionamento e testes</a:t>
            </a:r>
          </a:p>
        </p:txBody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6117176D-A8CE-4ED5-9AB7-860EF61CA6DA}"/>
              </a:ext>
            </a:extLst>
          </p:cNvPr>
          <p:cNvSpPr>
            <a:spLocks noGrp="1"/>
          </p:cNvSpPr>
          <p:nvPr/>
        </p:nvSpPr>
        <p:spPr>
          <a:xfrm>
            <a:off x="9048750" y="2476500"/>
            <a:ext cx="2428875" cy="1143000"/>
          </a:xfrm>
          <a:prstGeom prst="roundRect">
            <a:avLst>
              <a:gd name="adj" fmla="val 10000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E1A949BC-3DFD-4B89-A3A8-5C4E8CF128D8}"/>
              </a:ext>
            </a:extLst>
          </p:cNvPr>
          <p:cNvSpPr>
            <a:spLocks noGrp="1"/>
          </p:cNvSpPr>
          <p:nvPr/>
        </p:nvSpPr>
        <p:spPr>
          <a:xfrm>
            <a:off x="9296400" y="2714625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15E3F"/>
                </a:solidFill>
              </a:defRPr>
            </a:defPPr>
          </a:lstStyle>
          <a:p>
            <a:pPr algn="ctr">
              <a:defRPr sz="1500" b="1">
                <a:solidFill>
                  <a:srgbClr val="115E3F"/>
                </a:solidFill>
              </a:defRPr>
            </a:pPr>
            <a:r>
              <a:rPr sz="1500" b="1">
                <a:solidFill>
                  <a:srgbClr val="115E3F"/>
                </a:solidFill>
              </a:rPr>
              <a:t>Produtos do CEPA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DED51232-B701-4C62-9E56-9C1CB32D59D5}"/>
              </a:ext>
            </a:extLst>
          </p:cNvPr>
          <p:cNvSpPr>
            <a:spLocks noGrp="1"/>
          </p:cNvSpPr>
          <p:nvPr/>
        </p:nvSpPr>
        <p:spPr>
          <a:xfrm>
            <a:off x="9296400" y="31432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5A5858"/>
                </a:solidFill>
              </a:defRPr>
            </a:defPPr>
          </a:lstStyle>
          <a:p>
            <a:pPr algn="ctr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Informação publicada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xmlns="" id="{69643DFA-700B-46B8-8778-CC91140290E3}"/>
              </a:ext>
            </a:extLst>
          </p:cNvPr>
          <p:cNvSpPr>
            <a:spLocks noGrp="1"/>
          </p:cNvSpPr>
          <p:nvPr/>
        </p:nvSpPr>
        <p:spPr>
          <a:xfrm>
            <a:off x="3152775" y="3048000"/>
            <a:ext cx="1276350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xmlns="" id="{AB55F7E6-38EA-45F4-A360-05851689A94A}"/>
              </a:ext>
            </a:extLst>
          </p:cNvPr>
          <p:cNvSpPr>
            <a:spLocks noGrp="1"/>
          </p:cNvSpPr>
          <p:nvPr/>
        </p:nvSpPr>
        <p:spPr>
          <a:xfrm>
            <a:off x="4333875" y="298132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xmlns="" id="{66BC2E12-3ADE-477D-82D0-64A8DF9E141D}"/>
              </a:ext>
            </a:extLst>
          </p:cNvPr>
          <p:cNvSpPr>
            <a:spLocks noGrp="1"/>
          </p:cNvSpPr>
          <p:nvPr/>
        </p:nvSpPr>
        <p:spPr>
          <a:xfrm>
            <a:off x="4333875" y="30480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xmlns="" id="{DB9FA6AD-A573-46CD-B884-F9F52DEA9951}"/>
              </a:ext>
            </a:extLst>
          </p:cNvPr>
          <p:cNvSpPr>
            <a:spLocks noGrp="1"/>
          </p:cNvSpPr>
          <p:nvPr/>
        </p:nvSpPr>
        <p:spPr>
          <a:xfrm>
            <a:off x="7677150" y="3048000"/>
            <a:ext cx="1276350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xmlns="" id="{E02C2068-130D-4166-970F-58C72ADC398B}"/>
              </a:ext>
            </a:extLst>
          </p:cNvPr>
          <p:cNvSpPr>
            <a:spLocks noGrp="1"/>
          </p:cNvSpPr>
          <p:nvPr/>
        </p:nvSpPr>
        <p:spPr>
          <a:xfrm>
            <a:off x="8858250" y="298132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xmlns="" id="{6ED53806-8DE6-4316-AACE-BC7E6497E527}"/>
              </a:ext>
            </a:extLst>
          </p:cNvPr>
          <p:cNvSpPr>
            <a:spLocks noGrp="1"/>
          </p:cNvSpPr>
          <p:nvPr/>
        </p:nvSpPr>
        <p:spPr>
          <a:xfrm>
            <a:off x="8858250" y="30480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48C774BB-8E92-445B-A79B-7412BE075275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115E3F"/>
                </a:solidFill>
              </a:defRPr>
            </a:defPPr>
          </a:lstStyle>
          <a:p>
            <a:pPr algn="ctr">
              <a:defRPr sz="1725" b="1">
                <a:solidFill>
                  <a:srgbClr val="115E3F"/>
                </a:solidFill>
              </a:defRPr>
            </a:pPr>
            <a:r>
              <a:rPr sz="1725" b="1">
                <a:solidFill>
                  <a:srgbClr val="115E3F"/>
                </a:solidFill>
              </a:rPr>
              <a:t>Sem essa camada, cada produto reconstrói parte da lógica e amplia o custo de manutenção.</a:t>
            </a:r>
          </a:p>
        </p:txBody>
      </p:sp>
    </p:spTree>
    <p:extLst>
      <p:ext uri="{BB962C8B-B14F-4D97-AF65-F5344CB8AC3E}">
        <p14:creationId xmlns:p14="http://schemas.microsoft.com/office/powerpoint/2010/main" val="2074769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xmlns="" id="{ED332418-E260-4C9E-BD07-E391EAF50F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37EBA0B7-B144-4CE4-BDA2-0DC04C19CA77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Riscos para continuidade e confiança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xmlns="" id="{997301E3-FDD7-4BEC-8E62-0C6017F8684A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8621D8C3-4C47-4980-A8CC-74E59617FC8E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4B282E8F-67D4-4565-BCBF-0643FA034C4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06</a:t>
            </a:r>
          </a:p>
        </p:txBody>
      </p:sp>
      <p:sp>
        <p:nvSpPr>
          <p:cNvPr id="6" name="Retângulo de cantos arredondados 5">
            <a:extLst>
              <a:ext uri="{FF2B5EF4-FFF2-40B4-BE49-F238E27FC236}">
                <a16:creationId xmlns:a16="http://schemas.microsoft.com/office/drawing/2014/main" xmlns="" id="{B3709610-E28E-47C9-89AB-E4E0EE99BC23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1D5E28E7-D403-4A5E-A200-B29C3AAC57E6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66675" cy="1333500"/>
          </a:xfrm>
          <a:prstGeom prst="rect">
            <a:avLst/>
          </a:prstGeom>
          <a:solidFill>
            <a:srgbClr val="ED1C24"/>
          </a:solidFill>
          <a:ln w="9525">
            <a:solidFill>
              <a:srgbClr val="ED1C24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F9FDC26E-C926-4166-8728-854E23DC86D1}"/>
              </a:ext>
            </a:extLst>
          </p:cNvPr>
          <p:cNvSpPr>
            <a:spLocks noGrp="1"/>
          </p:cNvSpPr>
          <p:nvPr/>
        </p:nvSpPr>
        <p:spPr>
          <a:xfrm>
            <a:off x="942975" y="2286000"/>
            <a:ext cx="2933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ED1C24"/>
                </a:solidFill>
              </a:defRPr>
            </a:defPPr>
          </a:lstStyle>
          <a:p>
            <a:pPr algn="l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Números divergentes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D86F58D3-56F7-4FF9-BFF0-DE8ED0A8A3EF}"/>
              </a:ext>
            </a:extLst>
          </p:cNvPr>
          <p:cNvSpPr>
            <a:spLocks noGrp="1"/>
          </p:cNvSpPr>
          <p:nvPr/>
        </p:nvSpPr>
        <p:spPr>
          <a:xfrm>
            <a:off x="942975" y="2657475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O mesmo indicador pode usar regras diferentes.</a:t>
            </a:r>
          </a:p>
        </p:txBody>
      </p:sp>
      <p:sp>
        <p:nvSpPr>
          <p:cNvPr id="10" name="Retângulo de cantos arredondados 9">
            <a:extLst>
              <a:ext uri="{FF2B5EF4-FFF2-40B4-BE49-F238E27FC236}">
                <a16:creationId xmlns:a16="http://schemas.microsoft.com/office/drawing/2014/main" xmlns="" id="{998C2D15-224D-48E6-A77F-43FD146F82A3}"/>
              </a:ext>
            </a:extLst>
          </p:cNvPr>
          <p:cNvSpPr>
            <a:spLocks noGrp="1"/>
          </p:cNvSpPr>
          <p:nvPr/>
        </p:nvSpPr>
        <p:spPr>
          <a:xfrm>
            <a:off x="4524375" y="2143125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425FDD99-0E60-4C53-B402-11E67C11D165}"/>
              </a:ext>
            </a:extLst>
          </p:cNvPr>
          <p:cNvSpPr>
            <a:spLocks noGrp="1"/>
          </p:cNvSpPr>
          <p:nvPr/>
        </p:nvSpPr>
        <p:spPr>
          <a:xfrm>
            <a:off x="4524375" y="2143125"/>
            <a:ext cx="66675" cy="1333500"/>
          </a:xfrm>
          <a:prstGeom prst="rect">
            <a:avLst/>
          </a:prstGeom>
          <a:solidFill>
            <a:srgbClr val="ED1C24"/>
          </a:solidFill>
          <a:ln w="9525">
            <a:solidFill>
              <a:srgbClr val="ED1C24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13894DF6-6D9B-4389-80A4-A6EDC0A418EF}"/>
              </a:ext>
            </a:extLst>
          </p:cNvPr>
          <p:cNvSpPr>
            <a:spLocks noGrp="1"/>
          </p:cNvSpPr>
          <p:nvPr/>
        </p:nvSpPr>
        <p:spPr>
          <a:xfrm>
            <a:off x="4752975" y="2286000"/>
            <a:ext cx="2933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ED1C24"/>
                </a:solidFill>
              </a:defRPr>
            </a:defPPr>
          </a:lstStyle>
          <a:p>
            <a:pPr algn="l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Dependência de pessoas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1CB2BDE6-0771-41C6-AC73-7A6A5E2DBD5E}"/>
              </a:ext>
            </a:extLst>
          </p:cNvPr>
          <p:cNvSpPr>
            <a:spLocks noGrp="1"/>
          </p:cNvSpPr>
          <p:nvPr/>
        </p:nvSpPr>
        <p:spPr>
          <a:xfrm>
            <a:off x="4752975" y="2657475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Conhecimento crítico permanece em rotinas individuais.</a:t>
            </a:r>
          </a:p>
        </p:txBody>
      </p:sp>
      <p:sp>
        <p:nvSpPr>
          <p:cNvPr id="14" name="Retângulo de cantos arredondados 13">
            <a:extLst>
              <a:ext uri="{FF2B5EF4-FFF2-40B4-BE49-F238E27FC236}">
                <a16:creationId xmlns:a16="http://schemas.microsoft.com/office/drawing/2014/main" xmlns="" id="{367C93E0-27D6-4BFF-A905-8B8CFCA586F2}"/>
              </a:ext>
            </a:extLst>
          </p:cNvPr>
          <p:cNvSpPr>
            <a:spLocks noGrp="1"/>
          </p:cNvSpPr>
          <p:nvPr/>
        </p:nvSpPr>
        <p:spPr>
          <a:xfrm>
            <a:off x="8334375" y="2143125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A9864D43-27F1-47BD-B2D4-991C1D6EE789}"/>
              </a:ext>
            </a:extLst>
          </p:cNvPr>
          <p:cNvSpPr>
            <a:spLocks noGrp="1"/>
          </p:cNvSpPr>
          <p:nvPr/>
        </p:nvSpPr>
        <p:spPr>
          <a:xfrm>
            <a:off x="8334375" y="2143125"/>
            <a:ext cx="66675" cy="1333500"/>
          </a:xfrm>
          <a:prstGeom prst="rect">
            <a:avLst/>
          </a:prstGeom>
          <a:solidFill>
            <a:srgbClr val="ED1C24"/>
          </a:solidFill>
          <a:ln w="9525">
            <a:solidFill>
              <a:srgbClr val="ED1C24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5304F246-1284-42E4-B62F-B33E5A06640A}"/>
              </a:ext>
            </a:extLst>
          </p:cNvPr>
          <p:cNvSpPr>
            <a:spLocks noGrp="1"/>
          </p:cNvSpPr>
          <p:nvPr/>
        </p:nvSpPr>
        <p:spPr>
          <a:xfrm>
            <a:off x="8562975" y="2286000"/>
            <a:ext cx="2933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ED1C24"/>
                </a:solidFill>
              </a:defRPr>
            </a:defPPr>
          </a:lstStyle>
          <a:p>
            <a:pPr algn="l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Mudanças sem rastreio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73076E5E-78C7-4273-8A12-65CFD0C6418C}"/>
              </a:ext>
            </a:extLst>
          </p:cNvPr>
          <p:cNvSpPr>
            <a:spLocks noGrp="1"/>
          </p:cNvSpPr>
          <p:nvPr/>
        </p:nvSpPr>
        <p:spPr>
          <a:xfrm>
            <a:off x="8562975" y="2657475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Alterações nas fontes afetam produtos sem aviso.</a:t>
            </a:r>
          </a:p>
        </p:txBody>
      </p:sp>
      <p:sp>
        <p:nvSpPr>
          <p:cNvPr id="18" name="Retângulo de cantos arredondados 17">
            <a:extLst>
              <a:ext uri="{FF2B5EF4-FFF2-40B4-BE49-F238E27FC236}">
                <a16:creationId xmlns:a16="http://schemas.microsoft.com/office/drawing/2014/main" xmlns="" id="{7C9E095B-44FC-4286-8ADC-40A638779D2E}"/>
              </a:ext>
            </a:extLst>
          </p:cNvPr>
          <p:cNvSpPr>
            <a:spLocks noGrp="1"/>
          </p:cNvSpPr>
          <p:nvPr/>
        </p:nvSpPr>
        <p:spPr>
          <a:xfrm>
            <a:off x="714375" y="3857625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FC9016BC-84D8-4381-8E15-4A07D37BA2E1}"/>
              </a:ext>
            </a:extLst>
          </p:cNvPr>
          <p:cNvSpPr>
            <a:spLocks noGrp="1"/>
          </p:cNvSpPr>
          <p:nvPr/>
        </p:nvSpPr>
        <p:spPr>
          <a:xfrm>
            <a:off x="714375" y="3857625"/>
            <a:ext cx="66675" cy="1333500"/>
          </a:xfrm>
          <a:prstGeom prst="rect">
            <a:avLst/>
          </a:prstGeom>
          <a:solidFill>
            <a:srgbClr val="1B6E62"/>
          </a:solidFill>
          <a:ln w="9525">
            <a:solidFill>
              <a:srgbClr val="1B6E62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902B7DF0-B168-4CA0-A79B-072F33385A1F}"/>
              </a:ext>
            </a:extLst>
          </p:cNvPr>
          <p:cNvSpPr>
            <a:spLocks noGrp="1"/>
          </p:cNvSpPr>
          <p:nvPr/>
        </p:nvSpPr>
        <p:spPr>
          <a:xfrm>
            <a:off x="942975" y="4000500"/>
            <a:ext cx="2933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B6E62"/>
                </a:solidFill>
              </a:defRPr>
            </a:defPPr>
          </a:lstStyle>
          <a:p>
            <a:pPr algn="l">
              <a:defRPr sz="1350" b="1">
                <a:solidFill>
                  <a:srgbClr val="1B6E62"/>
                </a:solidFill>
              </a:defRPr>
            </a:pPr>
            <a:r>
              <a:rPr sz="1350" b="1">
                <a:solidFill>
                  <a:srgbClr val="1B6E62"/>
                </a:solidFill>
              </a:rPr>
              <a:t>Retrabalho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B15213AE-1763-4682-B5E9-F8CC0A3E08DD}"/>
              </a:ext>
            </a:extLst>
          </p:cNvPr>
          <p:cNvSpPr>
            <a:spLocks noGrp="1"/>
          </p:cNvSpPr>
          <p:nvPr/>
        </p:nvSpPr>
        <p:spPr>
          <a:xfrm>
            <a:off x="942975" y="4371975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Tratamentos semelhantes são refeitos por várias pessoas.</a:t>
            </a:r>
          </a:p>
        </p:txBody>
      </p:sp>
      <p:sp>
        <p:nvSpPr>
          <p:cNvPr id="22" name="Retângulo de cantos arredondados 21">
            <a:extLst>
              <a:ext uri="{FF2B5EF4-FFF2-40B4-BE49-F238E27FC236}">
                <a16:creationId xmlns:a16="http://schemas.microsoft.com/office/drawing/2014/main" xmlns="" id="{47F501E7-B2A2-43BB-A310-C326EE7BFB81}"/>
              </a:ext>
            </a:extLst>
          </p:cNvPr>
          <p:cNvSpPr>
            <a:spLocks noGrp="1"/>
          </p:cNvSpPr>
          <p:nvPr/>
        </p:nvSpPr>
        <p:spPr>
          <a:xfrm>
            <a:off x="4524375" y="3857625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6D34090F-89B6-4174-8D11-06025638982F}"/>
              </a:ext>
            </a:extLst>
          </p:cNvPr>
          <p:cNvSpPr>
            <a:spLocks noGrp="1"/>
          </p:cNvSpPr>
          <p:nvPr/>
        </p:nvSpPr>
        <p:spPr>
          <a:xfrm>
            <a:off x="4524375" y="3857625"/>
            <a:ext cx="66675" cy="1333500"/>
          </a:xfrm>
          <a:prstGeom prst="rect">
            <a:avLst/>
          </a:prstGeom>
          <a:solidFill>
            <a:srgbClr val="1B6E62"/>
          </a:solidFill>
          <a:ln w="9525">
            <a:solidFill>
              <a:srgbClr val="1B6E62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5F896990-545C-495E-9961-CE943AEC19DC}"/>
              </a:ext>
            </a:extLst>
          </p:cNvPr>
          <p:cNvSpPr>
            <a:spLocks noGrp="1"/>
          </p:cNvSpPr>
          <p:nvPr/>
        </p:nvSpPr>
        <p:spPr>
          <a:xfrm>
            <a:off x="4752975" y="4000500"/>
            <a:ext cx="2933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B6E62"/>
                </a:solidFill>
              </a:defRPr>
            </a:defPPr>
          </a:lstStyle>
          <a:p>
            <a:pPr algn="l">
              <a:defRPr sz="1350" b="1">
                <a:solidFill>
                  <a:srgbClr val="1B6E62"/>
                </a:solidFill>
              </a:defRPr>
            </a:pPr>
            <a:r>
              <a:rPr sz="1350" b="1">
                <a:solidFill>
                  <a:srgbClr val="1B6E62"/>
                </a:solidFill>
              </a:rPr>
              <a:t>Baixa reprodutibilidade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xmlns="" id="{C36B3286-3523-46F2-80B7-775BB7615B55}"/>
              </a:ext>
            </a:extLst>
          </p:cNvPr>
          <p:cNvSpPr>
            <a:spLocks noGrp="1"/>
          </p:cNvSpPr>
          <p:nvPr/>
        </p:nvSpPr>
        <p:spPr>
          <a:xfrm>
            <a:off x="4752975" y="4371975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Resultados históricos ficam difíceis de recalcular.</a:t>
            </a:r>
          </a:p>
        </p:txBody>
      </p:sp>
      <p:sp>
        <p:nvSpPr>
          <p:cNvPr id="26" name="Retângulo de cantos arredondados 25">
            <a:extLst>
              <a:ext uri="{FF2B5EF4-FFF2-40B4-BE49-F238E27FC236}">
                <a16:creationId xmlns:a16="http://schemas.microsoft.com/office/drawing/2014/main" xmlns="" id="{F2D8879B-8DDE-48E8-8E03-84015521169E}"/>
              </a:ext>
            </a:extLst>
          </p:cNvPr>
          <p:cNvSpPr>
            <a:spLocks noGrp="1"/>
          </p:cNvSpPr>
          <p:nvPr/>
        </p:nvSpPr>
        <p:spPr>
          <a:xfrm>
            <a:off x="8334375" y="3857625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xmlns="" id="{03D600CF-1396-416A-AFA7-AE530225085D}"/>
              </a:ext>
            </a:extLst>
          </p:cNvPr>
          <p:cNvSpPr>
            <a:spLocks noGrp="1"/>
          </p:cNvSpPr>
          <p:nvPr/>
        </p:nvSpPr>
        <p:spPr>
          <a:xfrm>
            <a:off x="8334375" y="3857625"/>
            <a:ext cx="66675" cy="1333500"/>
          </a:xfrm>
          <a:prstGeom prst="rect">
            <a:avLst/>
          </a:prstGeom>
          <a:solidFill>
            <a:srgbClr val="1B6E62"/>
          </a:solidFill>
          <a:ln w="9525">
            <a:solidFill>
              <a:srgbClr val="1B6E62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xmlns="" id="{ADF4389D-0270-425A-BBBF-EEC4769534A9}"/>
              </a:ext>
            </a:extLst>
          </p:cNvPr>
          <p:cNvSpPr>
            <a:spLocks noGrp="1"/>
          </p:cNvSpPr>
          <p:nvPr/>
        </p:nvSpPr>
        <p:spPr>
          <a:xfrm>
            <a:off x="8562975" y="4000500"/>
            <a:ext cx="2933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B6E62"/>
                </a:solidFill>
              </a:defRPr>
            </a:defPPr>
          </a:lstStyle>
          <a:p>
            <a:pPr algn="l">
              <a:defRPr sz="1350" b="1">
                <a:solidFill>
                  <a:srgbClr val="1B6E62"/>
                </a:solidFill>
              </a:defRPr>
            </a:pPr>
            <a:r>
              <a:rPr sz="1350" b="1">
                <a:solidFill>
                  <a:srgbClr val="1B6E62"/>
                </a:solidFill>
              </a:rPr>
              <a:t>Escala limitada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xmlns="" id="{6F1CAA25-3CFB-44F7-8C56-5BAC9788C12F}"/>
              </a:ext>
            </a:extLst>
          </p:cNvPr>
          <p:cNvSpPr>
            <a:spLocks noGrp="1"/>
          </p:cNvSpPr>
          <p:nvPr/>
        </p:nvSpPr>
        <p:spPr>
          <a:xfrm>
            <a:off x="8562975" y="4371975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Novos produtos ampliam a complexidade operacional.</a:t>
            </a:r>
          </a:p>
        </p:txBody>
      </p:sp>
    </p:spTree>
    <p:extLst>
      <p:ext uri="{BB962C8B-B14F-4D97-AF65-F5344CB8AC3E}">
        <p14:creationId xmlns:p14="http://schemas.microsoft.com/office/powerpoint/2010/main" val="1916768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ector reto 11">
            <a:extLst>
              <a:ext uri="{FF2B5EF4-FFF2-40B4-BE49-F238E27FC236}">
                <a16:creationId xmlns:a16="http://schemas.microsoft.com/office/drawing/2014/main" xmlns="" id="{4E253C81-4573-4D00-8FA2-2519BEB5F5F7}"/>
              </a:ext>
            </a:extLst>
          </p:cNvPr>
          <p:cNvSpPr>
            <a:spLocks noGrp="1"/>
          </p:cNvSpPr>
          <p:nvPr/>
        </p:nvSpPr>
        <p:spPr>
          <a:xfrm>
            <a:off x="2571750" y="2543175"/>
            <a:ext cx="3524250" cy="885825"/>
          </a:xfrm>
          <a:prstGeom prst="line">
            <a:avLst/>
          </a:prstGeom>
          <a:noFill/>
          <a:ln w="9525">
            <a:solidFill>
              <a:srgbClr val="1B6E62"/>
            </a:solidFill>
            <a:prstDash val="solid"/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xmlns="" id="{0FE948C6-2E3E-40EF-9171-F6D5856D016C}"/>
              </a:ext>
            </a:extLst>
          </p:cNvPr>
          <p:cNvSpPr>
            <a:spLocks noGrp="1"/>
          </p:cNvSpPr>
          <p:nvPr/>
        </p:nvSpPr>
        <p:spPr>
          <a:xfrm rot="5400000">
            <a:off x="7121282" y="1508687"/>
            <a:ext cx="1238634" cy="2555070"/>
          </a:xfrm>
          <a:custGeom>
            <a:avLst/>
            <a:gdLst>
              <a:gd name="connsiteX0" fmla="*/ 0 w 3810000"/>
              <a:gd name="connsiteY0" fmla="*/ 0 h 885825"/>
              <a:gd name="connsiteX1" fmla="*/ 3810000 w 3810000"/>
              <a:gd name="connsiteY1" fmla="*/ 885825 h 885825"/>
              <a:gd name="connsiteX0" fmla="*/ 0 w 1999608"/>
              <a:gd name="connsiteY0" fmla="*/ 0 h 2671671"/>
              <a:gd name="connsiteX1" fmla="*/ 1999608 w 1999608"/>
              <a:gd name="connsiteY1" fmla="*/ 2671671 h 2671671"/>
              <a:gd name="connsiteX0" fmla="*/ 0 w 1999608"/>
              <a:gd name="connsiteY0" fmla="*/ 0 h 2671671"/>
              <a:gd name="connsiteX1" fmla="*/ 1999608 w 1999608"/>
              <a:gd name="connsiteY1" fmla="*/ 2671671 h 2671671"/>
              <a:gd name="connsiteX0" fmla="*/ 0 w 1238634"/>
              <a:gd name="connsiteY0" fmla="*/ 0 h 2555070"/>
              <a:gd name="connsiteX1" fmla="*/ 1238634 w 1238634"/>
              <a:gd name="connsiteY1" fmla="*/ 2555070 h 2555070"/>
              <a:gd name="connsiteX0" fmla="*/ 0 w 1238634"/>
              <a:gd name="connsiteY0" fmla="*/ 0 h 2555070"/>
              <a:gd name="connsiteX1" fmla="*/ 1238634 w 1238634"/>
              <a:gd name="connsiteY1" fmla="*/ 2555070 h 2555070"/>
              <a:gd name="connsiteX0" fmla="*/ 0 w 1238634"/>
              <a:gd name="connsiteY0" fmla="*/ 0 h 2555070"/>
              <a:gd name="connsiteX1" fmla="*/ 1238634 w 1238634"/>
              <a:gd name="connsiteY1" fmla="*/ 2555070 h 2555070"/>
              <a:gd name="connsiteX0" fmla="*/ 0 w 1238634"/>
              <a:gd name="connsiteY0" fmla="*/ 0 h 2555070"/>
              <a:gd name="connsiteX1" fmla="*/ 1238634 w 1238634"/>
              <a:gd name="connsiteY1" fmla="*/ 2555070 h 2555070"/>
              <a:gd name="connsiteX0" fmla="*/ 0 w 1238634"/>
              <a:gd name="connsiteY0" fmla="*/ 0 h 2555070"/>
              <a:gd name="connsiteX1" fmla="*/ 1238634 w 1238634"/>
              <a:gd name="connsiteY1" fmla="*/ 2555070 h 255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8634" h="2555070">
                <a:moveTo>
                  <a:pt x="0" y="0"/>
                </a:moveTo>
                <a:cubicBezTo>
                  <a:pt x="699270" y="1430604"/>
                  <a:pt x="422765" y="1014002"/>
                  <a:pt x="1238634" y="2555070"/>
                </a:cubicBezTo>
              </a:path>
            </a:pathLst>
          </a:custGeom>
          <a:noFill/>
          <a:ln w="9525">
            <a:solidFill>
              <a:srgbClr val="1B6E62"/>
            </a:solidFill>
            <a:prstDash val="solid"/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xmlns="" id="{FEFEB4A7-CE25-4F96-8256-7817F8E65299}"/>
              </a:ext>
            </a:extLst>
          </p:cNvPr>
          <p:cNvSpPr>
            <a:spLocks noGrp="1"/>
          </p:cNvSpPr>
          <p:nvPr/>
        </p:nvSpPr>
        <p:spPr>
          <a:xfrm rot="5400000">
            <a:off x="3536716" y="2925134"/>
            <a:ext cx="1880069" cy="2423313"/>
          </a:xfrm>
          <a:custGeom>
            <a:avLst/>
            <a:gdLst>
              <a:gd name="connsiteX0" fmla="*/ 0 w 3905250"/>
              <a:gd name="connsiteY0" fmla="*/ 0 h 1257300"/>
              <a:gd name="connsiteX1" fmla="*/ 3905250 w 3905250"/>
              <a:gd name="connsiteY1" fmla="*/ 1257300 h 1257300"/>
              <a:gd name="connsiteX0" fmla="*/ 0 w 2358748"/>
              <a:gd name="connsiteY0" fmla="*/ 0 h 2251480"/>
              <a:gd name="connsiteX1" fmla="*/ 2358748 w 2358748"/>
              <a:gd name="connsiteY1" fmla="*/ 2251480 h 2251480"/>
              <a:gd name="connsiteX0" fmla="*/ 0 w 2358748"/>
              <a:gd name="connsiteY0" fmla="*/ 0 h 2251480"/>
              <a:gd name="connsiteX1" fmla="*/ 2358748 w 2358748"/>
              <a:gd name="connsiteY1" fmla="*/ 2251480 h 2251480"/>
              <a:gd name="connsiteX0" fmla="*/ 0 w 1880069"/>
              <a:gd name="connsiteY0" fmla="*/ 0 h 2423313"/>
              <a:gd name="connsiteX1" fmla="*/ 1880069 w 1880069"/>
              <a:gd name="connsiteY1" fmla="*/ 2423313 h 2423313"/>
              <a:gd name="connsiteX0" fmla="*/ 0 w 1880069"/>
              <a:gd name="connsiteY0" fmla="*/ 0 h 2423313"/>
              <a:gd name="connsiteX1" fmla="*/ 1880069 w 1880069"/>
              <a:gd name="connsiteY1" fmla="*/ 2423313 h 2423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0069" h="2423313">
                <a:moveTo>
                  <a:pt x="0" y="0"/>
                </a:moveTo>
                <a:cubicBezTo>
                  <a:pt x="841481" y="1229172"/>
                  <a:pt x="805385" y="1114361"/>
                  <a:pt x="1880069" y="2423313"/>
                </a:cubicBezTo>
              </a:path>
            </a:pathLst>
          </a:custGeom>
          <a:noFill/>
          <a:ln w="9525">
            <a:solidFill>
              <a:srgbClr val="1B6E62"/>
            </a:solidFill>
            <a:prstDash val="solid"/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xmlns="" id="{05EC8121-0531-4C09-B514-249B64B6F53C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3905250" cy="1257300"/>
          </a:xfrm>
          <a:prstGeom prst="line">
            <a:avLst/>
          </a:prstGeom>
          <a:noFill/>
          <a:ln w="9525">
            <a:solidFill>
              <a:srgbClr val="1B6E62"/>
            </a:solidFill>
            <a:prstDash val="solid"/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xmlns="" id="{34184880-4369-4616-8F3E-134A01AA24E3}"/>
              </a:ext>
            </a:extLst>
          </p:cNvPr>
          <p:cNvSpPr>
            <a:spLocks noGrp="1"/>
          </p:cNvSpPr>
          <p:nvPr/>
        </p:nvSpPr>
        <p:spPr>
          <a:xfrm>
            <a:off x="5619750" y="3429000"/>
            <a:ext cx="476250" cy="2162175"/>
          </a:xfrm>
          <a:prstGeom prst="line">
            <a:avLst/>
          </a:prstGeom>
          <a:noFill/>
          <a:ln w="9525">
            <a:solidFill>
              <a:srgbClr val="1B6E62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xmlns="" id="{6C3F3779-6670-47AC-A417-B34D2CB0A0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7B77901C-9600-428E-A6D3-3F919130500C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Governança de dados na prática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DDBDA1C6-E56C-42AF-A015-B337EC73F390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Decisões e rotinas que tornam os dados compreensíveis, confiáveis e reutilizáveis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1BA12328-DF7F-4F2C-815E-824334D8BFEE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DBFDD51C-3B86-41C0-A52D-717765D4E7D2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D10ACD87-A181-47D7-ABE2-B201C87D5F9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07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xmlns="" id="{4C30719F-57B9-491C-B59D-B6FD7E4F6701}"/>
              </a:ext>
            </a:extLst>
          </p:cNvPr>
          <p:cNvSpPr>
            <a:spLocks noGrp="1"/>
          </p:cNvSpPr>
          <p:nvPr/>
        </p:nvSpPr>
        <p:spPr>
          <a:xfrm>
            <a:off x="5314950" y="2647950"/>
            <a:ext cx="1562100" cy="156210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62999EE5-4CB1-48EB-A9A0-A29098E77E39}"/>
              </a:ext>
            </a:extLst>
          </p:cNvPr>
          <p:cNvSpPr>
            <a:spLocks noGrp="1"/>
          </p:cNvSpPr>
          <p:nvPr/>
        </p:nvSpPr>
        <p:spPr>
          <a:xfrm>
            <a:off x="5314950" y="2647950"/>
            <a:ext cx="15621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DADO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CONFIÁVEL</a:t>
            </a:r>
          </a:p>
        </p:txBody>
      </p:sp>
      <p:sp>
        <p:nvSpPr>
          <p:cNvPr id="9" name="Retângulo de cantos arredondados 8">
            <a:extLst>
              <a:ext uri="{FF2B5EF4-FFF2-40B4-BE49-F238E27FC236}">
                <a16:creationId xmlns:a16="http://schemas.microsoft.com/office/drawing/2014/main" xmlns="" id="{C18ABF14-F155-44CC-B0A1-617B9ADEA286}"/>
              </a:ext>
            </a:extLst>
          </p:cNvPr>
          <p:cNvSpPr>
            <a:spLocks noGrp="1"/>
          </p:cNvSpPr>
          <p:nvPr/>
        </p:nvSpPr>
        <p:spPr>
          <a:xfrm>
            <a:off x="1047750" y="2095500"/>
            <a:ext cx="3048000" cy="904875"/>
          </a:xfrm>
          <a:prstGeom prst="roundRect">
            <a:avLst>
              <a:gd name="adj" fmla="val 12632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82E25C06-581E-497E-ADDC-5A595F5DFA5F}"/>
              </a:ext>
            </a:extLst>
          </p:cNvPr>
          <p:cNvSpPr>
            <a:spLocks noGrp="1"/>
          </p:cNvSpPr>
          <p:nvPr/>
        </p:nvSpPr>
        <p:spPr>
          <a:xfrm>
            <a:off x="1238250" y="2228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Significado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50A3255D-57DF-4E9B-808D-7815E2FEC2C4}"/>
              </a:ext>
            </a:extLst>
          </p:cNvPr>
          <p:cNvSpPr>
            <a:spLocks noGrp="1"/>
          </p:cNvSpPr>
          <p:nvPr/>
        </p:nvSpPr>
        <p:spPr>
          <a:xfrm>
            <a:off x="1238250" y="25431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0">
                <a:solidFill>
                  <a:srgbClr val="5A5858"/>
                </a:solidFill>
              </a:defRPr>
            </a:defPPr>
          </a:lstStyle>
          <a:p>
            <a:pPr algn="l">
              <a:defRPr sz="975" b="0">
                <a:solidFill>
                  <a:srgbClr val="5A5858"/>
                </a:solidFill>
              </a:defRPr>
            </a:pPr>
            <a:r>
              <a:rPr sz="975" b="0">
                <a:solidFill>
                  <a:srgbClr val="5A5858"/>
                </a:solidFill>
              </a:rPr>
              <a:t>Conceitos e regras de cálculo</a:t>
            </a:r>
          </a:p>
        </p:txBody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170A1979-9E6B-4992-8C95-2630A6448149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3048000" cy="904875"/>
          </a:xfrm>
          <a:prstGeom prst="roundRect">
            <a:avLst>
              <a:gd name="adj" fmla="val 12632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77D1A0A3-8BD6-4B36-B0B2-681C656ACB7B}"/>
              </a:ext>
            </a:extLst>
          </p:cNvPr>
          <p:cNvSpPr>
            <a:spLocks noGrp="1"/>
          </p:cNvSpPr>
          <p:nvPr/>
        </p:nvSpPr>
        <p:spPr>
          <a:xfrm>
            <a:off x="8572500" y="2228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Responsabilidade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8C9637DE-1059-45CE-B7F3-90B9483ECB92}"/>
              </a:ext>
            </a:extLst>
          </p:cNvPr>
          <p:cNvSpPr>
            <a:spLocks noGrp="1"/>
          </p:cNvSpPr>
          <p:nvPr/>
        </p:nvSpPr>
        <p:spPr>
          <a:xfrm>
            <a:off x="8572500" y="25431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0">
                <a:solidFill>
                  <a:srgbClr val="5A5858"/>
                </a:solidFill>
              </a:defRPr>
            </a:defPPr>
          </a:lstStyle>
          <a:p>
            <a:pPr algn="l">
              <a:defRPr sz="975" b="0">
                <a:solidFill>
                  <a:srgbClr val="5A5858"/>
                </a:solidFill>
              </a:defRPr>
            </a:pPr>
            <a:r>
              <a:rPr sz="975" b="0">
                <a:solidFill>
                  <a:srgbClr val="5A5858"/>
                </a:solidFill>
              </a:rPr>
              <a:t>Quem produz, valida e aprova</a:t>
            </a:r>
          </a:p>
        </p:txBody>
      </p:sp>
      <p:sp>
        <p:nvSpPr>
          <p:cNvPr id="17" name="Retângulo de cantos arredondados 16">
            <a:extLst>
              <a:ext uri="{FF2B5EF4-FFF2-40B4-BE49-F238E27FC236}">
                <a16:creationId xmlns:a16="http://schemas.microsoft.com/office/drawing/2014/main" xmlns="" id="{4ADDBBB5-8FA9-4155-91E7-9327D53DD546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3048000" cy="904875"/>
          </a:xfrm>
          <a:prstGeom prst="roundRect">
            <a:avLst>
              <a:gd name="adj" fmla="val 12632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9DE5931E-0C33-42EE-A295-710033A3FF67}"/>
              </a:ext>
            </a:extLst>
          </p:cNvPr>
          <p:cNvSpPr>
            <a:spLocks noGrp="1"/>
          </p:cNvSpPr>
          <p:nvPr/>
        </p:nvSpPr>
        <p:spPr>
          <a:xfrm>
            <a:off x="857250" y="43719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Qualidade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CDBEA979-5D95-4B97-9333-4886656A70BA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0">
                <a:solidFill>
                  <a:srgbClr val="5A5858"/>
                </a:solidFill>
              </a:defRPr>
            </a:defPPr>
          </a:lstStyle>
          <a:p>
            <a:pPr algn="l">
              <a:defRPr sz="975" b="0">
                <a:solidFill>
                  <a:srgbClr val="5A5858"/>
                </a:solidFill>
              </a:defRPr>
            </a:pPr>
            <a:r>
              <a:rPr sz="975" b="0">
                <a:solidFill>
                  <a:srgbClr val="5A5858"/>
                </a:solidFill>
              </a:rPr>
              <a:t>Testes, alertas e correções</a:t>
            </a:r>
          </a:p>
        </p:txBody>
      </p:sp>
      <p:sp>
        <p:nvSpPr>
          <p:cNvPr id="21" name="Retângulo de cantos arredondados 20">
            <a:extLst>
              <a:ext uri="{FF2B5EF4-FFF2-40B4-BE49-F238E27FC236}">
                <a16:creationId xmlns:a16="http://schemas.microsoft.com/office/drawing/2014/main" xmlns="" id="{0DCC86B0-B6B0-49D7-A3F0-B407FA697A04}"/>
              </a:ext>
            </a:extLst>
          </p:cNvPr>
          <p:cNvSpPr>
            <a:spLocks noGrp="1"/>
          </p:cNvSpPr>
          <p:nvPr/>
        </p:nvSpPr>
        <p:spPr>
          <a:xfrm>
            <a:off x="8477250" y="4238625"/>
            <a:ext cx="3048000" cy="904875"/>
          </a:xfrm>
          <a:prstGeom prst="roundRect">
            <a:avLst>
              <a:gd name="adj" fmla="val 12632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65FCA98F-0444-40A2-A5C0-95BCC581FC22}"/>
              </a:ext>
            </a:extLst>
          </p:cNvPr>
          <p:cNvSpPr>
            <a:spLocks noGrp="1"/>
          </p:cNvSpPr>
          <p:nvPr/>
        </p:nvSpPr>
        <p:spPr>
          <a:xfrm>
            <a:off x="8667750" y="43719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Rastreabilidade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292F7235-FCD4-4233-B23A-083038B2732A}"/>
              </a:ext>
            </a:extLst>
          </p:cNvPr>
          <p:cNvSpPr>
            <a:spLocks noGrp="1"/>
          </p:cNvSpPr>
          <p:nvPr/>
        </p:nvSpPr>
        <p:spPr>
          <a:xfrm>
            <a:off x="8667750" y="46863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0">
                <a:solidFill>
                  <a:srgbClr val="5A5858"/>
                </a:solidFill>
              </a:defRPr>
            </a:defPPr>
          </a:lstStyle>
          <a:p>
            <a:pPr algn="l">
              <a:defRPr sz="975" b="0">
                <a:solidFill>
                  <a:srgbClr val="5A5858"/>
                </a:solidFill>
              </a:defRPr>
            </a:pPr>
            <a:r>
              <a:rPr sz="975" b="0">
                <a:solidFill>
                  <a:srgbClr val="5A5858"/>
                </a:solidFill>
              </a:rPr>
              <a:t>Origem, transformações e dependências</a:t>
            </a:r>
          </a:p>
        </p:txBody>
      </p:sp>
      <p:sp>
        <p:nvSpPr>
          <p:cNvPr id="25" name="Retângulo de cantos arredondados 24">
            <a:extLst>
              <a:ext uri="{FF2B5EF4-FFF2-40B4-BE49-F238E27FC236}">
                <a16:creationId xmlns:a16="http://schemas.microsoft.com/office/drawing/2014/main" xmlns="" id="{3E8A1A81-F610-46D9-AE3F-99CEE5DA73E8}"/>
              </a:ext>
            </a:extLst>
          </p:cNvPr>
          <p:cNvSpPr>
            <a:spLocks noGrp="1"/>
          </p:cNvSpPr>
          <p:nvPr/>
        </p:nvSpPr>
        <p:spPr>
          <a:xfrm>
            <a:off x="4095750" y="5143500"/>
            <a:ext cx="3048000" cy="904875"/>
          </a:xfrm>
          <a:prstGeom prst="roundRect">
            <a:avLst>
              <a:gd name="adj" fmla="val 12632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xmlns="" id="{29F841F5-1DBD-46D1-B013-B2846BF880A4}"/>
              </a:ext>
            </a:extLst>
          </p:cNvPr>
          <p:cNvSpPr>
            <a:spLocks noGrp="1"/>
          </p:cNvSpPr>
          <p:nvPr/>
        </p:nvSpPr>
        <p:spPr>
          <a:xfrm>
            <a:off x="4286250" y="5276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Ciclo de vida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xmlns="" id="{394C4297-7D14-4AEF-A9D6-764FED847DF8}"/>
              </a:ext>
            </a:extLst>
          </p:cNvPr>
          <p:cNvSpPr>
            <a:spLocks noGrp="1"/>
          </p:cNvSpPr>
          <p:nvPr/>
        </p:nvSpPr>
        <p:spPr>
          <a:xfrm>
            <a:off x="4286250" y="55911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0">
                <a:solidFill>
                  <a:srgbClr val="5A5858"/>
                </a:solidFill>
              </a:defRPr>
            </a:defPPr>
          </a:lstStyle>
          <a:p>
            <a:pPr algn="l">
              <a:defRPr sz="975" b="0">
                <a:solidFill>
                  <a:srgbClr val="5A5858"/>
                </a:solidFill>
              </a:defRPr>
            </a:pPr>
            <a:r>
              <a:rPr sz="975" b="0">
                <a:solidFill>
                  <a:srgbClr val="5A5858"/>
                </a:solidFill>
              </a:rPr>
              <a:t>Criação, mudança, publicação e descontinuação</a:t>
            </a:r>
          </a:p>
        </p:txBody>
      </p:sp>
    </p:spTree>
    <p:extLst>
      <p:ext uri="{BB962C8B-B14F-4D97-AF65-F5344CB8AC3E}">
        <p14:creationId xmlns:p14="http://schemas.microsoft.com/office/powerpoint/2010/main" val="1595382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tângulo 35">
            <a:extLst>
              <a:ext uri="{FF2B5EF4-FFF2-40B4-BE49-F238E27FC236}">
                <a16:creationId xmlns:a16="http://schemas.microsoft.com/office/drawing/2014/main" xmlns="" id="{38F409C5-9D8E-48BF-B6CF-F622EDA6E8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84DBAC68-D45B-4907-A565-090E5AA81BFF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Arquitetura lógica proposta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8D860ED3-109F-4342-9605-1051DF91216A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O Data Lake permanece como base. As novas camadas organizam o uso institucional dos dados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6C70E54B-C92A-4A37-B4B6-80094EEE739F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63770F1A-B922-4009-8987-4F9127903470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72CE1F1C-49E6-4BDD-A267-B9F20FB968A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08</a:t>
            </a: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0D3D27BB-3864-4BAF-87B5-D290A34279CE}"/>
              </a:ext>
            </a:extLst>
          </p:cNvPr>
          <p:cNvSpPr>
            <a:spLocks noGrp="1"/>
          </p:cNvSpPr>
          <p:nvPr/>
        </p:nvSpPr>
        <p:spPr>
          <a:xfrm>
            <a:off x="419100" y="2238375"/>
            <a:ext cx="2047875" cy="2333625"/>
          </a:xfrm>
          <a:prstGeom prst="roundRect">
            <a:avLst>
              <a:gd name="adj" fmla="val 5581"/>
            </a:avLst>
          </a:prstGeom>
          <a:solidFill>
            <a:srgbClr val="FBEAEC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C4D919A2-7FEE-4C03-AB87-CCD70ED2B668}"/>
              </a:ext>
            </a:extLst>
          </p:cNvPr>
          <p:cNvSpPr>
            <a:spLocks noGrp="1"/>
          </p:cNvSpPr>
          <p:nvPr/>
        </p:nvSpPr>
        <p:spPr>
          <a:xfrm>
            <a:off x="590550" y="249555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ED1C24"/>
                </a:solidFill>
              </a:defRPr>
            </a:defPPr>
          </a:lstStyle>
          <a:p>
            <a:pPr algn="l">
              <a:defRPr sz="1125" b="1">
                <a:solidFill>
                  <a:srgbClr val="ED1C24"/>
                </a:solidFill>
              </a:defRPr>
            </a:pPr>
            <a:r>
              <a:rPr sz="1125" b="1">
                <a:solidFill>
                  <a:srgbClr val="ED1C24"/>
                </a:solidFill>
              </a:rPr>
              <a:t>1. FONTES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CDDB7E4E-73DB-4D19-BFD4-264A0E438702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16954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1A1A1A"/>
                </a:solidFill>
              </a:defRPr>
            </a:defPPr>
          </a:lstStyle>
          <a:p>
            <a:pPr algn="l">
              <a:defRPr sz="1050" b="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</a:rPr>
              <a:t>Órgãos públicos, levantamentos e bases administrativas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xmlns="" id="{61A04D31-5CD7-4590-89A0-91E8BD8C0D3D}"/>
              </a:ext>
            </a:extLst>
          </p:cNvPr>
          <p:cNvSpPr>
            <a:spLocks noGrp="1"/>
          </p:cNvSpPr>
          <p:nvPr/>
        </p:nvSpPr>
        <p:spPr>
          <a:xfrm>
            <a:off x="2476500" y="3381375"/>
            <a:ext cx="25717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xmlns="" id="{A7895DFD-C2BE-4E2A-AAE6-EA1FB62A870D}"/>
              </a:ext>
            </a:extLst>
          </p:cNvPr>
          <p:cNvSpPr>
            <a:spLocks noGrp="1"/>
          </p:cNvSpPr>
          <p:nvPr/>
        </p:nvSpPr>
        <p:spPr>
          <a:xfrm>
            <a:off x="2638425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xmlns="" id="{E3C4AE3C-5D7D-4330-A31C-96B063FEC67C}"/>
              </a:ext>
            </a:extLst>
          </p:cNvPr>
          <p:cNvSpPr>
            <a:spLocks noGrp="1"/>
          </p:cNvSpPr>
          <p:nvPr/>
        </p:nvSpPr>
        <p:spPr>
          <a:xfrm>
            <a:off x="2638425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261C8FDD-3492-433D-A543-9496ED7A6901}"/>
              </a:ext>
            </a:extLst>
          </p:cNvPr>
          <p:cNvSpPr>
            <a:spLocks noGrp="1"/>
          </p:cNvSpPr>
          <p:nvPr/>
        </p:nvSpPr>
        <p:spPr>
          <a:xfrm>
            <a:off x="2771775" y="2238375"/>
            <a:ext cx="2047875" cy="2333625"/>
          </a:xfrm>
          <a:prstGeom prst="roundRect">
            <a:avLst>
              <a:gd name="adj" fmla="val 5581"/>
            </a:avLst>
          </a:prstGeom>
          <a:solidFill>
            <a:srgbClr val="F7EEEE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00B9F22F-CF29-47B3-8AC1-92A3BB48F393}"/>
              </a:ext>
            </a:extLst>
          </p:cNvPr>
          <p:cNvSpPr>
            <a:spLocks noGrp="1"/>
          </p:cNvSpPr>
          <p:nvPr/>
        </p:nvSpPr>
        <p:spPr>
          <a:xfrm>
            <a:off x="2943225" y="249555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ED1C24"/>
                </a:solidFill>
              </a:defRPr>
            </a:defPPr>
          </a:lstStyle>
          <a:p>
            <a:pPr algn="l">
              <a:defRPr sz="1125" b="1">
                <a:solidFill>
                  <a:srgbClr val="ED1C24"/>
                </a:solidFill>
              </a:defRPr>
            </a:pPr>
            <a:r>
              <a:rPr sz="1125" b="1">
                <a:solidFill>
                  <a:srgbClr val="ED1C24"/>
                </a:solidFill>
              </a:rPr>
              <a:t>2. DATA LAKE CIASC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184C824E-F033-44F3-9636-8250DA467A1C}"/>
              </a:ext>
            </a:extLst>
          </p:cNvPr>
          <p:cNvSpPr>
            <a:spLocks noGrp="1"/>
          </p:cNvSpPr>
          <p:nvPr/>
        </p:nvSpPr>
        <p:spPr>
          <a:xfrm>
            <a:off x="2943225" y="3143250"/>
            <a:ext cx="16954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1A1A1A"/>
                </a:solidFill>
              </a:defRPr>
            </a:defPPr>
          </a:lstStyle>
          <a:p>
            <a:pPr algn="l">
              <a:defRPr sz="1050" b="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</a:rPr>
              <a:t>Impala, Parquet, Iceberg e histórico das fontes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xmlns="" id="{3FB2D4E8-F918-4410-AB25-035FB9C94303}"/>
              </a:ext>
            </a:extLst>
          </p:cNvPr>
          <p:cNvSpPr>
            <a:spLocks noGrp="1"/>
          </p:cNvSpPr>
          <p:nvPr/>
        </p:nvSpPr>
        <p:spPr>
          <a:xfrm>
            <a:off x="4829175" y="3381375"/>
            <a:ext cx="25717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xmlns="" id="{90998ED1-85CB-4BC2-A873-7E97F8D10A53}"/>
              </a:ext>
            </a:extLst>
          </p:cNvPr>
          <p:cNvSpPr>
            <a:spLocks noGrp="1"/>
          </p:cNvSpPr>
          <p:nvPr/>
        </p:nvSpPr>
        <p:spPr>
          <a:xfrm>
            <a:off x="4991100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xmlns="" id="{FE199055-EDC3-45EF-A4A4-82F136F9E7B8}"/>
              </a:ext>
            </a:extLst>
          </p:cNvPr>
          <p:cNvSpPr>
            <a:spLocks noGrp="1"/>
          </p:cNvSpPr>
          <p:nvPr/>
        </p:nvSpPr>
        <p:spPr>
          <a:xfrm>
            <a:off x="4991100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9" name="Retângulo de cantos arredondados 18">
            <a:extLst>
              <a:ext uri="{FF2B5EF4-FFF2-40B4-BE49-F238E27FC236}">
                <a16:creationId xmlns:a16="http://schemas.microsoft.com/office/drawing/2014/main" xmlns="" id="{4340E813-954D-44E6-8260-F93C5453BD21}"/>
              </a:ext>
            </a:extLst>
          </p:cNvPr>
          <p:cNvSpPr>
            <a:spLocks noGrp="1"/>
          </p:cNvSpPr>
          <p:nvPr/>
        </p:nvSpPr>
        <p:spPr>
          <a:xfrm>
            <a:off x="5124450" y="2238375"/>
            <a:ext cx="2047875" cy="2333625"/>
          </a:xfrm>
          <a:prstGeom prst="roundRect">
            <a:avLst>
              <a:gd name="adj" fmla="val 5581"/>
            </a:avLst>
          </a:prstGeom>
          <a:solidFill>
            <a:srgbClr val="FFF4E5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27BE81D8-7DF5-4B30-8FC7-8431A403FBF2}"/>
              </a:ext>
            </a:extLst>
          </p:cNvPr>
          <p:cNvSpPr>
            <a:spLocks noGrp="1"/>
          </p:cNvSpPr>
          <p:nvPr/>
        </p:nvSpPr>
        <p:spPr>
          <a:xfrm>
            <a:off x="5295900" y="249555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9A5D00"/>
                </a:solidFill>
              </a:defRPr>
            </a:defPPr>
          </a:lstStyle>
          <a:p>
            <a:pPr algn="l">
              <a:defRPr sz="1125" b="1">
                <a:solidFill>
                  <a:srgbClr val="9A5D00"/>
                </a:solidFill>
              </a:defRPr>
            </a:pPr>
            <a:r>
              <a:rPr sz="1125" b="1">
                <a:solidFill>
                  <a:srgbClr val="9A5D00"/>
                </a:solidFill>
              </a:rPr>
              <a:t>3. INTEGRAÇÃO CEPA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30B10A5C-6632-47A7-8D1D-004D837840F0}"/>
              </a:ext>
            </a:extLst>
          </p:cNvPr>
          <p:cNvSpPr>
            <a:spLocks noGrp="1"/>
          </p:cNvSpPr>
          <p:nvPr/>
        </p:nvSpPr>
        <p:spPr>
          <a:xfrm>
            <a:off x="5295900" y="3143250"/>
            <a:ext cx="16954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1A1A1A"/>
                </a:solidFill>
              </a:defRPr>
            </a:defPPr>
          </a:lstStyle>
          <a:p>
            <a:pPr algn="l">
              <a:defRPr sz="1050" b="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</a:rPr>
              <a:t>Airflow, dbt Core, R, Python e regras de qualidade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xmlns="" id="{AE3E97DF-2BC1-43A2-81A4-002350D999B0}"/>
              </a:ext>
            </a:extLst>
          </p:cNvPr>
          <p:cNvSpPr>
            <a:spLocks noGrp="1"/>
          </p:cNvSpPr>
          <p:nvPr/>
        </p:nvSpPr>
        <p:spPr>
          <a:xfrm>
            <a:off x="7181850" y="3381375"/>
            <a:ext cx="25717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xmlns="" id="{9F888096-F543-4646-8CAE-F8A5A6353505}"/>
              </a:ext>
            </a:extLst>
          </p:cNvPr>
          <p:cNvSpPr>
            <a:spLocks noGrp="1"/>
          </p:cNvSpPr>
          <p:nvPr/>
        </p:nvSpPr>
        <p:spPr>
          <a:xfrm>
            <a:off x="7343775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xmlns="" id="{9FF6E959-D3E6-4545-9B94-A19A8A7929CC}"/>
              </a:ext>
            </a:extLst>
          </p:cNvPr>
          <p:cNvSpPr>
            <a:spLocks noGrp="1"/>
          </p:cNvSpPr>
          <p:nvPr/>
        </p:nvSpPr>
        <p:spPr>
          <a:xfrm>
            <a:off x="7343775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5" name="Retângulo de cantos arredondados 24">
            <a:extLst>
              <a:ext uri="{FF2B5EF4-FFF2-40B4-BE49-F238E27FC236}">
                <a16:creationId xmlns:a16="http://schemas.microsoft.com/office/drawing/2014/main" xmlns="" id="{DEB9EA57-C75C-422A-88A0-BF3AE65491C4}"/>
              </a:ext>
            </a:extLst>
          </p:cNvPr>
          <p:cNvSpPr>
            <a:spLocks noGrp="1"/>
          </p:cNvSpPr>
          <p:nvPr/>
        </p:nvSpPr>
        <p:spPr>
          <a:xfrm>
            <a:off x="7477125" y="2238375"/>
            <a:ext cx="2047875" cy="2333625"/>
          </a:xfrm>
          <a:prstGeom prst="roundRect">
            <a:avLst>
              <a:gd name="adj" fmla="val 5581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xmlns="" id="{84002D03-C6B0-4A57-853A-37B59032C819}"/>
              </a:ext>
            </a:extLst>
          </p:cNvPr>
          <p:cNvSpPr>
            <a:spLocks noGrp="1"/>
          </p:cNvSpPr>
          <p:nvPr/>
        </p:nvSpPr>
        <p:spPr>
          <a:xfrm>
            <a:off x="7648575" y="249555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15E3F"/>
                </a:solidFill>
              </a:defRPr>
            </a:defPPr>
          </a:lstStyle>
          <a:p>
            <a:pPr algn="l">
              <a:defRPr sz="1125" b="1">
                <a:solidFill>
                  <a:srgbClr val="115E3F"/>
                </a:solidFill>
              </a:defRPr>
            </a:pPr>
            <a:r>
              <a:rPr sz="1125" b="1">
                <a:solidFill>
                  <a:srgbClr val="115E3F"/>
                </a:solidFill>
              </a:rPr>
              <a:t>4. DW E DATA MARTS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xmlns="" id="{44A650EC-C484-409B-9277-50397A2B4FBF}"/>
              </a:ext>
            </a:extLst>
          </p:cNvPr>
          <p:cNvSpPr>
            <a:spLocks noGrp="1"/>
          </p:cNvSpPr>
          <p:nvPr/>
        </p:nvSpPr>
        <p:spPr>
          <a:xfrm>
            <a:off x="7648575" y="3143250"/>
            <a:ext cx="16954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1A1A1A"/>
                </a:solidFill>
              </a:defRPr>
            </a:defPPr>
          </a:lstStyle>
          <a:p>
            <a:pPr algn="l">
              <a:defRPr sz="1050" b="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</a:rPr>
              <a:t>PostgreSQL com modelos e dimensões compartilhadas</a:t>
            </a:r>
          </a:p>
        </p:txBody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xmlns="" id="{A82B77C2-D6B8-4F79-BD41-3DBFC90741EE}"/>
              </a:ext>
            </a:extLst>
          </p:cNvPr>
          <p:cNvSpPr>
            <a:spLocks noGrp="1"/>
          </p:cNvSpPr>
          <p:nvPr/>
        </p:nvSpPr>
        <p:spPr>
          <a:xfrm>
            <a:off x="9534525" y="3381375"/>
            <a:ext cx="25717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xmlns="" id="{2B023744-3772-4DDC-8CAD-FEA78BA7CD74}"/>
              </a:ext>
            </a:extLst>
          </p:cNvPr>
          <p:cNvSpPr>
            <a:spLocks noGrp="1"/>
          </p:cNvSpPr>
          <p:nvPr/>
        </p:nvSpPr>
        <p:spPr>
          <a:xfrm>
            <a:off x="9696450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xmlns="" id="{94AAC27D-17BF-4E8C-856E-D69B9B10D22A}"/>
              </a:ext>
            </a:extLst>
          </p:cNvPr>
          <p:cNvSpPr>
            <a:spLocks noGrp="1"/>
          </p:cNvSpPr>
          <p:nvPr/>
        </p:nvSpPr>
        <p:spPr>
          <a:xfrm>
            <a:off x="9696450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31" name="Retângulo de cantos arredondados 30">
            <a:extLst>
              <a:ext uri="{FF2B5EF4-FFF2-40B4-BE49-F238E27FC236}">
                <a16:creationId xmlns:a16="http://schemas.microsoft.com/office/drawing/2014/main" xmlns="" id="{F46F1457-45D1-4256-B65A-29F8BB3492FB}"/>
              </a:ext>
            </a:extLst>
          </p:cNvPr>
          <p:cNvSpPr>
            <a:spLocks noGrp="1"/>
          </p:cNvSpPr>
          <p:nvPr/>
        </p:nvSpPr>
        <p:spPr>
          <a:xfrm>
            <a:off x="9829800" y="2238375"/>
            <a:ext cx="2047875" cy="2333625"/>
          </a:xfrm>
          <a:prstGeom prst="roundRect">
            <a:avLst>
              <a:gd name="adj" fmla="val 5581"/>
            </a:avLst>
          </a:prstGeom>
          <a:solidFill>
            <a:srgbClr val="EEF4E8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xmlns="" id="{7E608B00-789C-4305-A307-BC11E8274D44}"/>
              </a:ext>
            </a:extLst>
          </p:cNvPr>
          <p:cNvSpPr>
            <a:spLocks noGrp="1"/>
          </p:cNvSpPr>
          <p:nvPr/>
        </p:nvSpPr>
        <p:spPr>
          <a:xfrm>
            <a:off x="10001250" y="249555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248029"/>
                </a:solidFill>
              </a:defRPr>
            </a:defPPr>
          </a:lstStyle>
          <a:p>
            <a:pPr algn="l">
              <a:defRPr sz="1125" b="1">
                <a:solidFill>
                  <a:srgbClr val="248029"/>
                </a:solidFill>
              </a:defRPr>
            </a:pPr>
            <a:r>
              <a:rPr sz="1125" b="1">
                <a:solidFill>
                  <a:srgbClr val="248029"/>
                </a:solidFill>
              </a:rPr>
              <a:t>5. CONSUMO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xmlns="" id="{FCA72AA5-C66D-4C65-8BEA-D2F214AE5B9B}"/>
              </a:ext>
            </a:extLst>
          </p:cNvPr>
          <p:cNvSpPr>
            <a:spLocks noGrp="1"/>
          </p:cNvSpPr>
          <p:nvPr/>
        </p:nvSpPr>
        <p:spPr>
          <a:xfrm>
            <a:off x="10001250" y="3143250"/>
            <a:ext cx="16954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1A1A1A"/>
                </a:solidFill>
              </a:defRPr>
            </a:defPPr>
          </a:lstStyle>
          <a:p>
            <a:pPr algn="l">
              <a:defRPr sz="1050" b="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</a:rPr>
              <a:t>Power BI, Excel, R, Superset, portais, APIs e dados abertos</a:t>
            </a:r>
          </a:p>
        </p:txBody>
      </p:sp>
      <p:sp>
        <p:nvSpPr>
          <p:cNvPr id="34" name="Retângulo de cantos arredondados 33">
            <a:extLst>
              <a:ext uri="{FF2B5EF4-FFF2-40B4-BE49-F238E27FC236}">
                <a16:creationId xmlns:a16="http://schemas.microsoft.com/office/drawing/2014/main" xmlns="" id="{0F22287A-9EE8-470A-94E6-4F355F210FC6}"/>
              </a:ext>
            </a:extLst>
          </p:cNvPr>
          <p:cNvSpPr>
            <a:spLocks noGrp="1"/>
          </p:cNvSpPr>
          <p:nvPr/>
        </p:nvSpPr>
        <p:spPr>
          <a:xfrm>
            <a:off x="1762125" y="4953000"/>
            <a:ext cx="8667750" cy="590550"/>
          </a:xfrm>
          <a:prstGeom prst="roundRect">
            <a:avLst>
              <a:gd name="adj" fmla="val 19355"/>
            </a:avLst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xmlns="" id="{E49F32B3-A100-4E7D-8093-05B73D9354FB}"/>
              </a:ext>
            </a:extLst>
          </p:cNvPr>
          <p:cNvSpPr>
            <a:spLocks noGrp="1"/>
          </p:cNvSpPr>
          <p:nvPr/>
        </p:nvSpPr>
        <p:spPr>
          <a:xfrm>
            <a:off x="1952625" y="5067300"/>
            <a:ext cx="828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FFFFFF"/>
                </a:solidFill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Governança transversal: catálogo, segurança, qualidade, linhagem e responsáveis</a:t>
            </a:r>
          </a:p>
        </p:txBody>
      </p:sp>
    </p:spTree>
    <p:extLst>
      <p:ext uri="{BB962C8B-B14F-4D97-AF65-F5344CB8AC3E}">
        <p14:creationId xmlns:p14="http://schemas.microsoft.com/office/powerpoint/2010/main" val="747003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xmlns="" id="{FE5032FE-4023-46A8-8CBB-804DB5AC82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C48DE142-E80C-4240-BC04-0BE7F27D12D2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Arquitetura técnica de referência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5EDC5775-E573-44A8-9A0C-0D8913B7DB5E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Preservar ferramentas existentes e priorizar soluções abertas nos novos componentes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30CDB740-3582-4B4F-9F58-83E0530D9F7C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45601213-FFCE-465F-98B5-1C04BC8B2F83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3C4985D7-9DF6-4BBC-BE63-AF12887EE57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09</a:t>
            </a: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F3081291-6F01-41CF-80DC-7E641F1C527B}"/>
              </a:ext>
            </a:extLst>
          </p:cNvPr>
          <p:cNvSpPr>
            <a:spLocks noGrp="1"/>
          </p:cNvSpPr>
          <p:nvPr/>
        </p:nvSpPr>
        <p:spPr>
          <a:xfrm>
            <a:off x="8429625" y="1428750"/>
            <a:ext cx="3048000" cy="323850"/>
          </a:xfrm>
          <a:prstGeom prst="roundRect">
            <a:avLst>
              <a:gd name="adj" fmla="val 35294"/>
            </a:avLst>
          </a:prstGeom>
          <a:solidFill>
            <a:srgbClr val="FBEAEC"/>
          </a:solidFill>
          <a:ln w="9525">
            <a:solidFill>
              <a:srgbClr val="FBEAEC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9FB8B3DC-7F60-41D7-A1E2-92EFC5A744E8}"/>
              </a:ext>
            </a:extLst>
          </p:cNvPr>
          <p:cNvSpPr>
            <a:spLocks noGrp="1"/>
          </p:cNvSpPr>
          <p:nvPr/>
        </p:nvSpPr>
        <p:spPr>
          <a:xfrm>
            <a:off x="8429625" y="14287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ED1C24"/>
                </a:solidFill>
              </a:defRPr>
            </a:defPPr>
          </a:lstStyle>
          <a:p>
            <a:pPr algn="ctr">
              <a:defRPr sz="900" b="1">
                <a:solidFill>
                  <a:srgbClr val="ED1C24"/>
                </a:solidFill>
              </a:defRPr>
            </a:pPr>
            <a:r>
              <a:rPr sz="900" b="1">
                <a:solidFill>
                  <a:srgbClr val="ED1C24"/>
                </a:solidFill>
              </a:rPr>
              <a:t>POWER BI E EXCEL PERMANECEM</a:t>
            </a:r>
          </a:p>
        </p:txBody>
      </p:sp>
      <p:sp>
        <p:nvSpPr>
          <p:cNvPr id="9" name="Retângulo de cantos arredondados 8">
            <a:extLst>
              <a:ext uri="{FF2B5EF4-FFF2-40B4-BE49-F238E27FC236}">
                <a16:creationId xmlns:a16="http://schemas.microsoft.com/office/drawing/2014/main" xmlns="" id="{E637BB56-179D-4689-8FCA-AD3C90E9D28B}"/>
              </a:ext>
            </a:extLst>
          </p:cNvPr>
          <p:cNvSpPr>
            <a:spLocks noGrp="1"/>
          </p:cNvSpPr>
          <p:nvPr/>
        </p:nvSpPr>
        <p:spPr>
          <a:xfrm>
            <a:off x="1428750" y="1762125"/>
            <a:ext cx="9334500" cy="609600"/>
          </a:xfrm>
          <a:prstGeom prst="roundRect">
            <a:avLst>
              <a:gd name="adj" fmla="val 18750"/>
            </a:avLst>
          </a:prstGeom>
          <a:solidFill>
            <a:srgbClr val="EEF4E8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DF3183FB-EEDF-4152-887F-D2C52C0ADD0E}"/>
              </a:ext>
            </a:extLst>
          </p:cNvPr>
          <p:cNvSpPr>
            <a:spLocks noGrp="1"/>
          </p:cNvSpPr>
          <p:nvPr/>
        </p:nvSpPr>
        <p:spPr>
          <a:xfrm>
            <a:off x="1666875" y="185737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248029"/>
                </a:solidFill>
              </a:defRPr>
            </a:defPPr>
          </a:lstStyle>
          <a:p>
            <a:pPr algn="l">
              <a:defRPr sz="1125" b="1">
                <a:solidFill>
                  <a:srgbClr val="248029"/>
                </a:solidFill>
              </a:defRPr>
            </a:pPr>
            <a:r>
              <a:rPr sz="1125" b="1">
                <a:solidFill>
                  <a:srgbClr val="248029"/>
                </a:solidFill>
              </a:rPr>
              <a:t>CONSUMO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D6A71EC0-38C7-41D1-A9FE-572027BC0DC4}"/>
              </a:ext>
            </a:extLst>
          </p:cNvPr>
          <p:cNvSpPr>
            <a:spLocks noGrp="1"/>
          </p:cNvSpPr>
          <p:nvPr/>
        </p:nvSpPr>
        <p:spPr>
          <a:xfrm>
            <a:off x="3857625" y="1857375"/>
            <a:ext cx="661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Power BI | Excel | Superset | Metabase | R Shiny | APIs</a:t>
            </a:r>
          </a:p>
        </p:txBody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xmlns="" id="{A5E78B56-9DDC-4810-8CAD-68A35B6D4E3C}"/>
              </a:ext>
            </a:extLst>
          </p:cNvPr>
          <p:cNvSpPr>
            <a:spLocks noGrp="1"/>
          </p:cNvSpPr>
          <p:nvPr/>
        </p:nvSpPr>
        <p:spPr>
          <a:xfrm>
            <a:off x="6096000" y="2390775"/>
            <a:ext cx="0" cy="0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xmlns="" id="{FD0C2A6B-AB4B-4039-8C12-4A638600B261}"/>
              </a:ext>
            </a:extLst>
          </p:cNvPr>
          <p:cNvSpPr>
            <a:spLocks noGrp="1"/>
          </p:cNvSpPr>
          <p:nvPr/>
        </p:nvSpPr>
        <p:spPr>
          <a:xfrm>
            <a:off x="6000750" y="2324100"/>
            <a:ext cx="95250" cy="66675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xmlns="" id="{A28AFACE-DD84-4D45-8F60-26F8F3597813}"/>
              </a:ext>
            </a:extLst>
          </p:cNvPr>
          <p:cNvSpPr>
            <a:spLocks noGrp="1"/>
          </p:cNvSpPr>
          <p:nvPr/>
        </p:nvSpPr>
        <p:spPr>
          <a:xfrm>
            <a:off x="6000750" y="2390775"/>
            <a:ext cx="95250" cy="66675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15" name="Retângulo de cantos arredondados 14">
            <a:extLst>
              <a:ext uri="{FF2B5EF4-FFF2-40B4-BE49-F238E27FC236}">
                <a16:creationId xmlns:a16="http://schemas.microsoft.com/office/drawing/2014/main" xmlns="" id="{4A31E14C-7BD0-4C43-BE7F-AB4BE84D4D96}"/>
              </a:ext>
            </a:extLst>
          </p:cNvPr>
          <p:cNvSpPr>
            <a:spLocks noGrp="1"/>
          </p:cNvSpPr>
          <p:nvPr/>
        </p:nvSpPr>
        <p:spPr>
          <a:xfrm>
            <a:off x="1428750" y="2543175"/>
            <a:ext cx="9334500" cy="609600"/>
          </a:xfrm>
          <a:prstGeom prst="roundRect">
            <a:avLst>
              <a:gd name="adj" fmla="val 18750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79BFE0A0-E4A9-40C9-9012-D3C295E0CE95}"/>
              </a:ext>
            </a:extLst>
          </p:cNvPr>
          <p:cNvSpPr>
            <a:spLocks noGrp="1"/>
          </p:cNvSpPr>
          <p:nvPr/>
        </p:nvSpPr>
        <p:spPr>
          <a:xfrm>
            <a:off x="1666875" y="263842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15E3F"/>
                </a:solidFill>
              </a:defRPr>
            </a:defPPr>
          </a:lstStyle>
          <a:p>
            <a:pPr algn="l">
              <a:defRPr sz="1125" b="1">
                <a:solidFill>
                  <a:srgbClr val="115E3F"/>
                </a:solidFill>
              </a:defRPr>
            </a:pPr>
            <a:r>
              <a:rPr sz="1125" b="1">
                <a:solidFill>
                  <a:srgbClr val="115E3F"/>
                </a:solidFill>
              </a:rPr>
              <a:t>SERVIÇOS DE DADOS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35F91286-D782-442B-BB02-C48BBE8D687B}"/>
              </a:ext>
            </a:extLst>
          </p:cNvPr>
          <p:cNvSpPr>
            <a:spLocks noGrp="1"/>
          </p:cNvSpPr>
          <p:nvPr/>
        </p:nvSpPr>
        <p:spPr>
          <a:xfrm>
            <a:off x="3857625" y="2638425"/>
            <a:ext cx="661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dbt Core | FastAPI | PostgREST | conjuntos certificados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xmlns="" id="{B9E31136-F909-42C6-A538-1194C9022A56}"/>
              </a:ext>
            </a:extLst>
          </p:cNvPr>
          <p:cNvSpPr>
            <a:spLocks noGrp="1"/>
          </p:cNvSpPr>
          <p:nvPr/>
        </p:nvSpPr>
        <p:spPr>
          <a:xfrm>
            <a:off x="6096000" y="3171825"/>
            <a:ext cx="0" cy="0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xmlns="" id="{78E7FDFA-9E79-44F7-B6DE-602B2101FF97}"/>
              </a:ext>
            </a:extLst>
          </p:cNvPr>
          <p:cNvSpPr>
            <a:spLocks noGrp="1"/>
          </p:cNvSpPr>
          <p:nvPr/>
        </p:nvSpPr>
        <p:spPr>
          <a:xfrm>
            <a:off x="6000750" y="3105150"/>
            <a:ext cx="95250" cy="66675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xmlns="" id="{5F52D881-B1B5-4852-865E-2BF15EBC8F72}"/>
              </a:ext>
            </a:extLst>
          </p:cNvPr>
          <p:cNvSpPr>
            <a:spLocks noGrp="1"/>
          </p:cNvSpPr>
          <p:nvPr/>
        </p:nvSpPr>
        <p:spPr>
          <a:xfrm>
            <a:off x="6000750" y="3171825"/>
            <a:ext cx="95250" cy="66675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21" name="Retângulo de cantos arredondados 20">
            <a:extLst>
              <a:ext uri="{FF2B5EF4-FFF2-40B4-BE49-F238E27FC236}">
                <a16:creationId xmlns:a16="http://schemas.microsoft.com/office/drawing/2014/main" xmlns="" id="{0502101D-681D-4A25-9179-742E6941F167}"/>
              </a:ext>
            </a:extLst>
          </p:cNvPr>
          <p:cNvSpPr>
            <a:spLocks noGrp="1"/>
          </p:cNvSpPr>
          <p:nvPr/>
        </p:nvSpPr>
        <p:spPr>
          <a:xfrm>
            <a:off x="1428750" y="3324225"/>
            <a:ext cx="9334500" cy="609600"/>
          </a:xfrm>
          <a:prstGeom prst="roundRect">
            <a:avLst>
              <a:gd name="adj" fmla="val 18750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5342170A-EDC3-42FF-9D84-8B3B9C63543D}"/>
              </a:ext>
            </a:extLst>
          </p:cNvPr>
          <p:cNvSpPr>
            <a:spLocks noGrp="1"/>
          </p:cNvSpPr>
          <p:nvPr/>
        </p:nvSpPr>
        <p:spPr>
          <a:xfrm>
            <a:off x="1666875" y="341947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B6E62"/>
                </a:solidFill>
              </a:defRPr>
            </a:defPPr>
          </a:lstStyle>
          <a:p>
            <a:pPr algn="l">
              <a:defRPr sz="1125" b="1">
                <a:solidFill>
                  <a:srgbClr val="1B6E62"/>
                </a:solidFill>
              </a:defRPr>
            </a:pPr>
            <a:r>
              <a:rPr sz="1125" b="1">
                <a:solidFill>
                  <a:srgbClr val="1B6E62"/>
                </a:solidFill>
              </a:rPr>
              <a:t>DADOS ANALÍTICOS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DAAD430E-A1F6-4B0B-9B05-F877BD2E73E7}"/>
              </a:ext>
            </a:extLst>
          </p:cNvPr>
          <p:cNvSpPr>
            <a:spLocks noGrp="1"/>
          </p:cNvSpPr>
          <p:nvPr/>
        </p:nvSpPr>
        <p:spPr>
          <a:xfrm>
            <a:off x="3857625" y="3419475"/>
            <a:ext cx="661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PostgreSQL: Data Warehouse e Data Marts dimensionais</a:t>
            </a:r>
          </a:p>
        </p:txBody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xmlns="" id="{B76A8D1A-5081-4FA1-B4AD-96F01F6D130C}"/>
              </a:ext>
            </a:extLst>
          </p:cNvPr>
          <p:cNvSpPr>
            <a:spLocks noGrp="1"/>
          </p:cNvSpPr>
          <p:nvPr/>
        </p:nvSpPr>
        <p:spPr>
          <a:xfrm>
            <a:off x="6096000" y="3952875"/>
            <a:ext cx="0" cy="0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xmlns="" id="{5A45CCC4-469A-4FAC-9C87-EDA37B17908E}"/>
              </a:ext>
            </a:extLst>
          </p:cNvPr>
          <p:cNvSpPr>
            <a:spLocks noGrp="1"/>
          </p:cNvSpPr>
          <p:nvPr/>
        </p:nvSpPr>
        <p:spPr>
          <a:xfrm>
            <a:off x="6000750" y="3886200"/>
            <a:ext cx="95250" cy="66675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xmlns="" id="{6206F839-C9E2-4F15-A553-4324AB9C6ADD}"/>
              </a:ext>
            </a:extLst>
          </p:cNvPr>
          <p:cNvSpPr>
            <a:spLocks noGrp="1"/>
          </p:cNvSpPr>
          <p:nvPr/>
        </p:nvSpPr>
        <p:spPr>
          <a:xfrm>
            <a:off x="6000750" y="3952875"/>
            <a:ext cx="95250" cy="66675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27" name="Retângulo de cantos arredondados 26">
            <a:extLst>
              <a:ext uri="{FF2B5EF4-FFF2-40B4-BE49-F238E27FC236}">
                <a16:creationId xmlns:a16="http://schemas.microsoft.com/office/drawing/2014/main" xmlns="" id="{8806C0C7-1D79-4886-8059-32D057212DE9}"/>
              </a:ext>
            </a:extLst>
          </p:cNvPr>
          <p:cNvSpPr>
            <a:spLocks noGrp="1"/>
          </p:cNvSpPr>
          <p:nvPr/>
        </p:nvSpPr>
        <p:spPr>
          <a:xfrm>
            <a:off x="1428750" y="4105275"/>
            <a:ext cx="9334500" cy="609600"/>
          </a:xfrm>
          <a:prstGeom prst="roundRect">
            <a:avLst>
              <a:gd name="adj" fmla="val 18750"/>
            </a:avLst>
          </a:prstGeom>
          <a:solidFill>
            <a:srgbClr val="FFF4E5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xmlns="" id="{D1C185BB-0179-4E28-BDF0-060F4FBDC458}"/>
              </a:ext>
            </a:extLst>
          </p:cNvPr>
          <p:cNvSpPr>
            <a:spLocks noGrp="1"/>
          </p:cNvSpPr>
          <p:nvPr/>
        </p:nvSpPr>
        <p:spPr>
          <a:xfrm>
            <a:off x="1666875" y="420052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9A5D00"/>
                </a:solidFill>
              </a:defRPr>
            </a:defPPr>
          </a:lstStyle>
          <a:p>
            <a:pPr algn="l">
              <a:defRPr sz="1125" b="1">
                <a:solidFill>
                  <a:srgbClr val="9A5D00"/>
                </a:solidFill>
              </a:defRPr>
            </a:pPr>
            <a:r>
              <a:rPr sz="1125" b="1">
                <a:solidFill>
                  <a:srgbClr val="9A5D00"/>
                </a:solidFill>
              </a:rPr>
              <a:t>PROCESSAMENTO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xmlns="" id="{593F8AE3-2A9A-4D31-8586-CBBB1E198A7D}"/>
              </a:ext>
            </a:extLst>
          </p:cNvPr>
          <p:cNvSpPr>
            <a:spLocks noGrp="1"/>
          </p:cNvSpPr>
          <p:nvPr/>
        </p:nvSpPr>
        <p:spPr>
          <a:xfrm>
            <a:off x="3857625" y="4200525"/>
            <a:ext cx="661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Apache Airflow | SQL | R | Python | JupyterLab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xmlns="" id="{8705FCA7-B5D6-400D-87DF-FBF2ACE49979}"/>
              </a:ext>
            </a:extLst>
          </p:cNvPr>
          <p:cNvSpPr>
            <a:spLocks noGrp="1"/>
          </p:cNvSpPr>
          <p:nvPr/>
        </p:nvSpPr>
        <p:spPr>
          <a:xfrm>
            <a:off x="6096000" y="4733925"/>
            <a:ext cx="0" cy="0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31" name="Conector reto 30">
            <a:extLst>
              <a:ext uri="{FF2B5EF4-FFF2-40B4-BE49-F238E27FC236}">
                <a16:creationId xmlns:a16="http://schemas.microsoft.com/office/drawing/2014/main" xmlns="" id="{BDCF2629-2EA8-4FB3-B208-1D2DFAECB376}"/>
              </a:ext>
            </a:extLst>
          </p:cNvPr>
          <p:cNvSpPr>
            <a:spLocks noGrp="1"/>
          </p:cNvSpPr>
          <p:nvPr/>
        </p:nvSpPr>
        <p:spPr>
          <a:xfrm>
            <a:off x="6000750" y="4667250"/>
            <a:ext cx="95250" cy="66675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32" name="Conector reto 31">
            <a:extLst>
              <a:ext uri="{FF2B5EF4-FFF2-40B4-BE49-F238E27FC236}">
                <a16:creationId xmlns:a16="http://schemas.microsoft.com/office/drawing/2014/main" xmlns="" id="{69C5C8AD-BE06-4F4E-AE52-ED7BEAA6A2FC}"/>
              </a:ext>
            </a:extLst>
          </p:cNvPr>
          <p:cNvSpPr>
            <a:spLocks noGrp="1"/>
          </p:cNvSpPr>
          <p:nvPr/>
        </p:nvSpPr>
        <p:spPr>
          <a:xfrm>
            <a:off x="6000750" y="4733925"/>
            <a:ext cx="95250" cy="66675"/>
          </a:xfrm>
          <a:prstGeom prst="line">
            <a:avLst/>
          </a:prstGeom>
          <a:noFill/>
          <a:ln w="19050">
            <a:prstDash val="solid"/>
          </a:ln>
        </p:spPr>
      </p:sp>
      <p:sp>
        <p:nvSpPr>
          <p:cNvPr id="33" name="Retângulo de cantos arredondados 32">
            <a:extLst>
              <a:ext uri="{FF2B5EF4-FFF2-40B4-BE49-F238E27FC236}">
                <a16:creationId xmlns:a16="http://schemas.microsoft.com/office/drawing/2014/main" xmlns="" id="{4392AC92-A792-41D3-B142-8BB21E7FB18B}"/>
              </a:ext>
            </a:extLst>
          </p:cNvPr>
          <p:cNvSpPr>
            <a:spLocks noGrp="1"/>
          </p:cNvSpPr>
          <p:nvPr/>
        </p:nvSpPr>
        <p:spPr>
          <a:xfrm>
            <a:off x="1428750" y="4886325"/>
            <a:ext cx="9334500" cy="609600"/>
          </a:xfrm>
          <a:prstGeom prst="roundRect">
            <a:avLst>
              <a:gd name="adj" fmla="val 18750"/>
            </a:avLst>
          </a:prstGeom>
          <a:solidFill>
            <a:srgbClr val="FBEAEC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xmlns="" id="{6B054B9F-D482-4EC0-B83A-CD1015D02DE3}"/>
              </a:ext>
            </a:extLst>
          </p:cNvPr>
          <p:cNvSpPr>
            <a:spLocks noGrp="1"/>
          </p:cNvSpPr>
          <p:nvPr/>
        </p:nvSpPr>
        <p:spPr>
          <a:xfrm>
            <a:off x="1666875" y="498157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ED1C24"/>
                </a:solidFill>
              </a:defRPr>
            </a:defPPr>
          </a:lstStyle>
          <a:p>
            <a:pPr algn="l">
              <a:defRPr sz="1125" b="1">
                <a:solidFill>
                  <a:srgbClr val="ED1C24"/>
                </a:solidFill>
              </a:defRPr>
            </a:pPr>
            <a:r>
              <a:rPr sz="1125" b="1">
                <a:solidFill>
                  <a:srgbClr val="ED1C24"/>
                </a:solidFill>
              </a:rPr>
              <a:t>DADOS BRUTOS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xmlns="" id="{0784C601-14A1-4A3A-AC30-5D769B92785A}"/>
              </a:ext>
            </a:extLst>
          </p:cNvPr>
          <p:cNvSpPr>
            <a:spLocks noGrp="1"/>
          </p:cNvSpPr>
          <p:nvPr/>
        </p:nvSpPr>
        <p:spPr>
          <a:xfrm>
            <a:off x="3857625" y="4981575"/>
            <a:ext cx="661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A1A1A"/>
                </a:solidFill>
              </a:defRPr>
            </a:defPPr>
          </a:lstStyle>
          <a:p>
            <a:pPr algn="l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Data Lake CIASC | Apache Impala | Parquet | Iceberg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xmlns="" id="{A69DA11C-D85D-4F64-AC2F-A8804B44D1F1}"/>
              </a:ext>
            </a:extLst>
          </p:cNvPr>
          <p:cNvSpPr>
            <a:spLocks noGrp="1"/>
          </p:cNvSpPr>
          <p:nvPr/>
        </p:nvSpPr>
        <p:spPr>
          <a:xfrm>
            <a:off x="1524000" y="5810250"/>
            <a:ext cx="914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115E3F"/>
                </a:solidFill>
              </a:defRPr>
            </a:defPPr>
          </a:lstStyle>
          <a:p>
            <a:pPr algn="ctr">
              <a:defRPr sz="1125" b="1">
                <a:solidFill>
                  <a:srgbClr val="115E3F"/>
                </a:solidFill>
              </a:defRPr>
            </a:pPr>
            <a:r>
              <a:rPr sz="1125" b="1">
                <a:solidFill>
                  <a:srgbClr val="115E3F"/>
                </a:solidFill>
              </a:rPr>
              <a:t>OpenMetadata, Great Expectations, Prometheus, Grafana, Loki e MkDocs atuam transversalmente.</a:t>
            </a:r>
          </a:p>
        </p:txBody>
      </p:sp>
    </p:spTree>
    <p:extLst>
      <p:ext uri="{BB962C8B-B14F-4D97-AF65-F5344CB8AC3E}">
        <p14:creationId xmlns:p14="http://schemas.microsoft.com/office/powerpoint/2010/main" val="6086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xmlns="" id="{68BC9178-D96E-4FC6-BD19-EEDF98A664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A813C9DA-C8E7-45D9-85B7-DB8A59073E92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Ambientes e entrega controlada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392B22ED-B223-4A31-80F4-924BDDF6876F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Mudanças avançam por validações técnicas e funcionais antes de chegar à produção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0D081260-A2EA-4A8B-882F-5B386FF17F18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2EC914EB-2A7B-4368-B512-9537C162C8C6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81507FF8-B296-4352-BF6C-64B14CDB302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10</a:t>
            </a: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CC1851AB-B8CD-49DC-9766-C12682EA14B7}"/>
              </a:ext>
            </a:extLst>
          </p:cNvPr>
          <p:cNvSpPr>
            <a:spLocks noGrp="1"/>
          </p:cNvSpPr>
          <p:nvPr/>
        </p:nvSpPr>
        <p:spPr>
          <a:xfrm>
            <a:off x="904875" y="2333625"/>
            <a:ext cx="2857500" cy="1714500"/>
          </a:xfrm>
          <a:prstGeom prst="roundRect">
            <a:avLst>
              <a:gd name="adj" fmla="val 6667"/>
            </a:avLst>
          </a:prstGeom>
          <a:solidFill>
            <a:srgbClr val="FBEAEC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CA797B5F-C4FE-437F-ACDC-BABACF90BBAC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ED1C24"/>
                </a:solidFill>
              </a:defRPr>
            </a:defPPr>
          </a:lstStyle>
          <a:p>
            <a:pPr algn="ctr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DESENVOLVIMENTO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2C83A978-D2E1-46F1-880F-3EF8DB0B269C}"/>
              </a:ext>
            </a:extLst>
          </p:cNvPr>
          <p:cNvSpPr>
            <a:spLocks noGrp="1"/>
          </p:cNvSpPr>
          <p:nvPr/>
        </p:nvSpPr>
        <p:spPr>
          <a:xfrm>
            <a:off x="1171575" y="3143250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0">
                <a:solidFill>
                  <a:srgbClr val="1A1A1A"/>
                </a:solidFill>
              </a:defRPr>
            </a:defPPr>
          </a:lstStyle>
          <a:p>
            <a:pPr algn="ctr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Amostras representativas</a:t>
            </a:r>
          </a:p>
          <a:p>
            <a:pPr algn="ctr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Criação e testes rápidos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xmlns="" id="{B2B70BED-39D7-4446-808A-B66D92354DD5}"/>
              </a:ext>
            </a:extLst>
          </p:cNvPr>
          <p:cNvSpPr>
            <a:spLocks noGrp="1"/>
          </p:cNvSpPr>
          <p:nvPr/>
        </p:nvSpPr>
        <p:spPr>
          <a:xfrm>
            <a:off x="3781425" y="3190875"/>
            <a:ext cx="77152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xmlns="" id="{831E3763-7CB9-449F-A824-5E2BCE12E7B7}"/>
              </a:ext>
            </a:extLst>
          </p:cNvPr>
          <p:cNvSpPr>
            <a:spLocks noGrp="1"/>
          </p:cNvSpPr>
          <p:nvPr/>
        </p:nvSpPr>
        <p:spPr>
          <a:xfrm>
            <a:off x="4457700" y="31242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xmlns="" id="{B8943C81-F584-4B5C-B9C7-4526C99A3FD9}"/>
              </a:ext>
            </a:extLst>
          </p:cNvPr>
          <p:cNvSpPr>
            <a:spLocks noGrp="1"/>
          </p:cNvSpPr>
          <p:nvPr/>
        </p:nvSpPr>
        <p:spPr>
          <a:xfrm>
            <a:off x="4457700" y="31908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FFC5C047-1D65-4CF9-97D4-A2C03E3C6F3E}"/>
              </a:ext>
            </a:extLst>
          </p:cNvPr>
          <p:cNvSpPr>
            <a:spLocks noGrp="1"/>
          </p:cNvSpPr>
          <p:nvPr/>
        </p:nvSpPr>
        <p:spPr>
          <a:xfrm>
            <a:off x="4667250" y="2333625"/>
            <a:ext cx="2857500" cy="1714500"/>
          </a:xfrm>
          <a:prstGeom prst="roundRect">
            <a:avLst>
              <a:gd name="adj" fmla="val 6667"/>
            </a:avLst>
          </a:prstGeom>
          <a:solidFill>
            <a:srgbClr val="FFF4E5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8D42EE6C-F4E5-4BF8-8E34-4CC7868D68C0}"/>
              </a:ext>
            </a:extLst>
          </p:cNvPr>
          <p:cNvSpPr>
            <a:spLocks noGrp="1"/>
          </p:cNvSpPr>
          <p:nvPr/>
        </p:nvSpPr>
        <p:spPr>
          <a:xfrm>
            <a:off x="4905375" y="2590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9A5D00"/>
                </a:solidFill>
              </a:defRPr>
            </a:defPPr>
          </a:lstStyle>
          <a:p>
            <a:pPr algn="ctr">
              <a:defRPr sz="1350" b="1">
                <a:solidFill>
                  <a:srgbClr val="9A5D00"/>
                </a:solidFill>
              </a:defRPr>
            </a:pPr>
            <a:r>
              <a:rPr sz="1350" b="1">
                <a:solidFill>
                  <a:srgbClr val="9A5D00"/>
                </a:solidFill>
              </a:rPr>
              <a:t>HOMOLOGAÇÃO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1DA726CE-25B3-4C68-9A31-18323C677C2C}"/>
              </a:ext>
            </a:extLst>
          </p:cNvPr>
          <p:cNvSpPr>
            <a:spLocks noGrp="1"/>
          </p:cNvSpPr>
          <p:nvPr/>
        </p:nvSpPr>
        <p:spPr>
          <a:xfrm>
            <a:off x="4933950" y="3143250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0">
                <a:solidFill>
                  <a:srgbClr val="1A1A1A"/>
                </a:solidFill>
              </a:defRPr>
            </a:defPPr>
          </a:lstStyle>
          <a:p>
            <a:pPr algn="ctr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Recorte suficiente para validar regras, desempenho e resultados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xmlns="" id="{3E485CDA-D3AE-4C3A-B77E-4909BB25D627}"/>
              </a:ext>
            </a:extLst>
          </p:cNvPr>
          <p:cNvSpPr>
            <a:spLocks noGrp="1"/>
          </p:cNvSpPr>
          <p:nvPr/>
        </p:nvSpPr>
        <p:spPr>
          <a:xfrm>
            <a:off x="7543800" y="3190875"/>
            <a:ext cx="77152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xmlns="" id="{3E32DF7B-2B93-468C-B376-514101BDD7F8}"/>
              </a:ext>
            </a:extLst>
          </p:cNvPr>
          <p:cNvSpPr>
            <a:spLocks noGrp="1"/>
          </p:cNvSpPr>
          <p:nvPr/>
        </p:nvSpPr>
        <p:spPr>
          <a:xfrm>
            <a:off x="8220075" y="31242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xmlns="" id="{BCB54083-07AD-4AD7-B707-7EC057D11E47}"/>
              </a:ext>
            </a:extLst>
          </p:cNvPr>
          <p:cNvSpPr>
            <a:spLocks noGrp="1"/>
          </p:cNvSpPr>
          <p:nvPr/>
        </p:nvSpPr>
        <p:spPr>
          <a:xfrm>
            <a:off x="8220075" y="31908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9" name="Retângulo de cantos arredondados 18">
            <a:extLst>
              <a:ext uri="{FF2B5EF4-FFF2-40B4-BE49-F238E27FC236}">
                <a16:creationId xmlns:a16="http://schemas.microsoft.com/office/drawing/2014/main" xmlns="" id="{EEEBC4F8-BCC6-439A-8A4E-B5EDA412C32F}"/>
              </a:ext>
            </a:extLst>
          </p:cNvPr>
          <p:cNvSpPr>
            <a:spLocks noGrp="1"/>
          </p:cNvSpPr>
          <p:nvPr/>
        </p:nvSpPr>
        <p:spPr>
          <a:xfrm>
            <a:off x="8429625" y="2333625"/>
            <a:ext cx="2857500" cy="1714500"/>
          </a:xfrm>
          <a:prstGeom prst="roundRect">
            <a:avLst>
              <a:gd name="adj" fmla="val 6667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638F2DA2-70F1-486B-8E6B-7CC06FEF0825}"/>
              </a:ext>
            </a:extLst>
          </p:cNvPr>
          <p:cNvSpPr>
            <a:spLocks noGrp="1"/>
          </p:cNvSpPr>
          <p:nvPr/>
        </p:nvSpPr>
        <p:spPr>
          <a:xfrm>
            <a:off x="8667750" y="2590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15E3F"/>
                </a:solidFill>
              </a:defRPr>
            </a:defPPr>
          </a:lstStyle>
          <a:p>
            <a:pPr algn="ctr">
              <a:defRPr sz="1350" b="1">
                <a:solidFill>
                  <a:srgbClr val="115E3F"/>
                </a:solidFill>
              </a:defRPr>
            </a:pPr>
            <a:r>
              <a:rPr sz="1350" b="1">
                <a:solidFill>
                  <a:srgbClr val="115E3F"/>
                </a:solidFill>
              </a:rPr>
              <a:t>PRODUÇÃO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F60C5182-524B-4B59-8A5C-E52CA937488A}"/>
              </a:ext>
            </a:extLst>
          </p:cNvPr>
          <p:cNvSpPr>
            <a:spLocks noGrp="1"/>
          </p:cNvSpPr>
          <p:nvPr/>
        </p:nvSpPr>
        <p:spPr>
          <a:xfrm>
            <a:off x="8696325" y="3143250"/>
            <a:ext cx="2324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0">
                <a:solidFill>
                  <a:srgbClr val="1A1A1A"/>
                </a:solidFill>
              </a:defRPr>
            </a:defPPr>
          </a:lstStyle>
          <a:p>
            <a:pPr algn="ctr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Dados completos</a:t>
            </a:r>
          </a:p>
          <a:p>
            <a:pPr algn="ctr"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Cargas oficiais e produtos publicados</a:t>
            </a:r>
          </a:p>
        </p:txBody>
      </p:sp>
      <p:sp>
        <p:nvSpPr>
          <p:cNvPr id="22" name="Retângulo de cantos arredondados 21">
            <a:extLst>
              <a:ext uri="{FF2B5EF4-FFF2-40B4-BE49-F238E27FC236}">
                <a16:creationId xmlns:a16="http://schemas.microsoft.com/office/drawing/2014/main" xmlns="" id="{47108D48-BDE6-4468-BB21-DFC0DB8F94CC}"/>
              </a:ext>
            </a:extLst>
          </p:cNvPr>
          <p:cNvSpPr>
            <a:spLocks noGrp="1"/>
          </p:cNvSpPr>
          <p:nvPr/>
        </p:nvSpPr>
        <p:spPr>
          <a:xfrm>
            <a:off x="1428750" y="4524375"/>
            <a:ext cx="9334500" cy="723900"/>
          </a:xfrm>
          <a:prstGeom prst="roundRect">
            <a:avLst>
              <a:gd name="adj" fmla="val 15789"/>
            </a:avLst>
          </a:prstGeom>
          <a:solidFill>
            <a:srgbClr val="F3F6F4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FAEC4224-06FE-48D9-A213-EA4E65648DD6}"/>
              </a:ext>
            </a:extLst>
          </p:cNvPr>
          <p:cNvSpPr>
            <a:spLocks noGrp="1"/>
          </p:cNvSpPr>
          <p:nvPr/>
        </p:nvSpPr>
        <p:spPr>
          <a:xfrm>
            <a:off x="1666875" y="46863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115E3F"/>
                </a:solidFill>
              </a:defRPr>
            </a:defPPr>
          </a:lstStyle>
          <a:p>
            <a:pPr algn="ctr">
              <a:defRPr sz="1200" b="1">
                <a:solidFill>
                  <a:srgbClr val="115E3F"/>
                </a:solidFill>
              </a:defRPr>
            </a:pPr>
            <a:r>
              <a:rPr sz="1200" b="1">
                <a:solidFill>
                  <a:srgbClr val="115E3F"/>
                </a:solidFill>
              </a:rPr>
              <a:t>GitHub e revisão de código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5CBD0615-78D8-428E-AD17-764646A38590}"/>
              </a:ext>
            </a:extLst>
          </p:cNvPr>
          <p:cNvSpPr>
            <a:spLocks noGrp="1"/>
          </p:cNvSpPr>
          <p:nvPr/>
        </p:nvSpPr>
        <p:spPr>
          <a:xfrm>
            <a:off x="4714875" y="46863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115E3F"/>
                </a:solidFill>
              </a:defRPr>
            </a:defPPr>
          </a:lstStyle>
          <a:p>
            <a:pPr algn="ctr">
              <a:defRPr sz="1200" b="1">
                <a:solidFill>
                  <a:srgbClr val="115E3F"/>
                </a:solidFill>
              </a:defRPr>
            </a:pPr>
            <a:r>
              <a:rPr sz="1200" b="1">
                <a:solidFill>
                  <a:srgbClr val="115E3F"/>
                </a:solidFill>
              </a:rPr>
              <a:t>CI/CD e testes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xmlns="" id="{9A029807-ACAF-4724-B73D-F9EF99A96B21}"/>
              </a:ext>
            </a:extLst>
          </p:cNvPr>
          <p:cNvSpPr>
            <a:spLocks noGrp="1"/>
          </p:cNvSpPr>
          <p:nvPr/>
        </p:nvSpPr>
        <p:spPr>
          <a:xfrm>
            <a:off x="7096125" y="46863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115E3F"/>
                </a:solidFill>
              </a:defRPr>
            </a:defPPr>
          </a:lstStyle>
          <a:p>
            <a:pPr algn="ctr">
              <a:defRPr sz="1200" b="1">
                <a:solidFill>
                  <a:srgbClr val="115E3F"/>
                </a:solidFill>
              </a:defRPr>
            </a:pPr>
            <a:r>
              <a:rPr sz="1200" b="1">
                <a:solidFill>
                  <a:srgbClr val="115E3F"/>
                </a:solidFill>
              </a:rPr>
              <a:t>Ambientes reproduzíveis</a:t>
            </a:r>
          </a:p>
        </p:txBody>
      </p:sp>
    </p:spTree>
    <p:extLst>
      <p:ext uri="{BB962C8B-B14F-4D97-AF65-F5344CB8AC3E}">
        <p14:creationId xmlns:p14="http://schemas.microsoft.com/office/powerpoint/2010/main" val="51567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xmlns="" id="{595248EE-2448-41FA-AA0A-2373840206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5253C80-4ACB-4F73-B3C0-F02EF08E6591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Ativos institucionais de dados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D9D3745C-5E5D-40BA-B418-80BBFBE9653A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O conhecimento precisa permanecer acessível além de cada consulta, planilha ou painel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D4349C9A-C6DC-4921-A63F-295F267DC964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53689B56-0D01-4C9A-8385-FDD9F01209A4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6CA9BABE-9749-4D66-9699-84DE92F8F63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11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xmlns="" id="{10B121B9-952B-4BA3-857A-F4F654044ABC}"/>
              </a:ext>
            </a:extLst>
          </p:cNvPr>
          <p:cNvSpPr>
            <a:spLocks noGrp="1"/>
          </p:cNvSpPr>
          <p:nvPr/>
        </p:nvSpPr>
        <p:spPr>
          <a:xfrm>
            <a:off x="752475" y="2247900"/>
            <a:ext cx="361950" cy="36195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CCA7A0E8-FA07-438C-B448-8B8FBB9F96B5}"/>
              </a:ext>
            </a:extLst>
          </p:cNvPr>
          <p:cNvSpPr>
            <a:spLocks noGrp="1"/>
          </p:cNvSpPr>
          <p:nvPr/>
        </p:nvSpPr>
        <p:spPr>
          <a:xfrm>
            <a:off x="752475" y="22479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F1E84878-B1DA-4E1F-AF0F-8602C3ABAD8D}"/>
              </a:ext>
            </a:extLst>
          </p:cNvPr>
          <p:cNvSpPr>
            <a:spLocks noGrp="1"/>
          </p:cNvSpPr>
          <p:nvPr/>
        </p:nvSpPr>
        <p:spPr>
          <a:xfrm>
            <a:off x="1285875" y="20955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Catálogo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0EFE44DB-7649-4F57-A5DE-29A2F0A8ABA9}"/>
              </a:ext>
            </a:extLst>
          </p:cNvPr>
          <p:cNvSpPr>
            <a:spLocks noGrp="1"/>
          </p:cNvSpPr>
          <p:nvPr/>
        </p:nvSpPr>
        <p:spPr>
          <a:xfrm>
            <a:off x="1285875" y="245745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Descrição, origem, responsável e periodicidade</a:t>
            </a:r>
          </a:p>
        </p:txBody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xmlns="" id="{11B896A8-CA37-44FF-9D25-14F7BF661EFC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43815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xmlns="" id="{1EDEF0EC-3AD5-49F1-8CE4-65D59C1C3604}"/>
              </a:ext>
            </a:extLst>
          </p:cNvPr>
          <p:cNvSpPr>
            <a:spLocks noGrp="1"/>
          </p:cNvSpPr>
          <p:nvPr/>
        </p:nvSpPr>
        <p:spPr>
          <a:xfrm>
            <a:off x="6372225" y="2247900"/>
            <a:ext cx="361950" cy="36195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F8209328-99E8-4463-9016-FF6703A88CCC}"/>
              </a:ext>
            </a:extLst>
          </p:cNvPr>
          <p:cNvSpPr>
            <a:spLocks noGrp="1"/>
          </p:cNvSpPr>
          <p:nvPr/>
        </p:nvSpPr>
        <p:spPr>
          <a:xfrm>
            <a:off x="6372225" y="22479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1054ADA2-7370-4CC5-A580-4733CC1E0065}"/>
              </a:ext>
            </a:extLst>
          </p:cNvPr>
          <p:cNvSpPr>
            <a:spLocks noGrp="1"/>
          </p:cNvSpPr>
          <p:nvPr/>
        </p:nvSpPr>
        <p:spPr>
          <a:xfrm>
            <a:off x="6905625" y="20955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Dicionário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1AB6DF4E-ADAB-48B8-BB60-BFB35494BACE}"/>
              </a:ext>
            </a:extLst>
          </p:cNvPr>
          <p:cNvSpPr>
            <a:spLocks noGrp="1"/>
          </p:cNvSpPr>
          <p:nvPr/>
        </p:nvSpPr>
        <p:spPr>
          <a:xfrm>
            <a:off x="6905625" y="245745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Campos, unidades, classificações e conceitos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xmlns="" id="{07B3D445-71A9-4DBF-9CC9-21D0B6B4C1E9}"/>
              </a:ext>
            </a:extLst>
          </p:cNvPr>
          <p:cNvSpPr>
            <a:spLocks noGrp="1"/>
          </p:cNvSpPr>
          <p:nvPr/>
        </p:nvSpPr>
        <p:spPr>
          <a:xfrm>
            <a:off x="6905625" y="2895600"/>
            <a:ext cx="43815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xmlns="" id="{076E0A30-A6CC-4910-89F4-E85293749753}"/>
              </a:ext>
            </a:extLst>
          </p:cNvPr>
          <p:cNvSpPr>
            <a:spLocks noGrp="1"/>
          </p:cNvSpPr>
          <p:nvPr/>
        </p:nvSpPr>
        <p:spPr>
          <a:xfrm>
            <a:off x="752475" y="3486150"/>
            <a:ext cx="361950" cy="36195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BD5F5156-B5B3-484E-9C52-BC664080E1EF}"/>
              </a:ext>
            </a:extLst>
          </p:cNvPr>
          <p:cNvSpPr>
            <a:spLocks noGrp="1"/>
          </p:cNvSpPr>
          <p:nvPr/>
        </p:nvSpPr>
        <p:spPr>
          <a:xfrm>
            <a:off x="752475" y="3486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5FE6D61B-ECDD-4E4D-BC78-C1C68A6961AE}"/>
              </a:ext>
            </a:extLst>
          </p:cNvPr>
          <p:cNvSpPr>
            <a:spLocks noGrp="1"/>
          </p:cNvSpPr>
          <p:nvPr/>
        </p:nvSpPr>
        <p:spPr>
          <a:xfrm>
            <a:off x="1285875" y="33337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Tabelas De-Para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97A3A3C5-406C-499A-88D3-CB2C153E2D93}"/>
              </a:ext>
            </a:extLst>
          </p:cNvPr>
          <p:cNvSpPr>
            <a:spLocks noGrp="1"/>
          </p:cNvSpPr>
          <p:nvPr/>
        </p:nvSpPr>
        <p:spPr>
          <a:xfrm>
            <a:off x="1285875" y="369570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Correspondências com contexto e validade temporal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xmlns="" id="{B126D822-EC6A-4B30-94E5-15C7EC0F4ABB}"/>
              </a:ext>
            </a:extLst>
          </p:cNvPr>
          <p:cNvSpPr>
            <a:spLocks noGrp="1"/>
          </p:cNvSpPr>
          <p:nvPr/>
        </p:nvSpPr>
        <p:spPr>
          <a:xfrm>
            <a:off x="1285875" y="4133850"/>
            <a:ext cx="43815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xmlns="" id="{3F20CB38-3CAC-4CAD-8DE0-379B8A4C0D59}"/>
              </a:ext>
            </a:extLst>
          </p:cNvPr>
          <p:cNvSpPr>
            <a:spLocks noGrp="1"/>
          </p:cNvSpPr>
          <p:nvPr/>
        </p:nvSpPr>
        <p:spPr>
          <a:xfrm>
            <a:off x="6372225" y="3486150"/>
            <a:ext cx="361950" cy="36195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3AE6770C-EB8A-4100-A661-AE656E0BE3DA}"/>
              </a:ext>
            </a:extLst>
          </p:cNvPr>
          <p:cNvSpPr>
            <a:spLocks noGrp="1"/>
          </p:cNvSpPr>
          <p:nvPr/>
        </p:nvSpPr>
        <p:spPr>
          <a:xfrm>
            <a:off x="6372225" y="3486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1491E1EC-F622-446C-8DC1-CD34E208BAF8}"/>
              </a:ext>
            </a:extLst>
          </p:cNvPr>
          <p:cNvSpPr>
            <a:spLocks noGrp="1"/>
          </p:cNvSpPr>
          <p:nvPr/>
        </p:nvSpPr>
        <p:spPr>
          <a:xfrm>
            <a:off x="6905625" y="33337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Linhagem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xmlns="" id="{4E86E5D7-205E-445F-BFB9-486BB0A490BF}"/>
              </a:ext>
            </a:extLst>
          </p:cNvPr>
          <p:cNvSpPr>
            <a:spLocks noGrp="1"/>
          </p:cNvSpPr>
          <p:nvPr/>
        </p:nvSpPr>
        <p:spPr>
          <a:xfrm>
            <a:off x="6905625" y="369570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Fonte, transformação e produtos dependentes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xmlns="" id="{0995ED7E-7067-484F-ADA3-795DBE8BF9D9}"/>
              </a:ext>
            </a:extLst>
          </p:cNvPr>
          <p:cNvSpPr>
            <a:spLocks noGrp="1"/>
          </p:cNvSpPr>
          <p:nvPr/>
        </p:nvSpPr>
        <p:spPr>
          <a:xfrm>
            <a:off x="6905625" y="4133850"/>
            <a:ext cx="43815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xmlns="" id="{F056BFFB-FF86-40C1-8A57-2FC597B164E5}"/>
              </a:ext>
            </a:extLst>
          </p:cNvPr>
          <p:cNvSpPr>
            <a:spLocks noGrp="1"/>
          </p:cNvSpPr>
          <p:nvPr/>
        </p:nvSpPr>
        <p:spPr>
          <a:xfrm>
            <a:off x="752475" y="4724400"/>
            <a:ext cx="361950" cy="36195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xmlns="" id="{296CA1B0-C924-4433-B3A3-7EF8A3E8B68F}"/>
              </a:ext>
            </a:extLst>
          </p:cNvPr>
          <p:cNvSpPr>
            <a:spLocks noGrp="1"/>
          </p:cNvSpPr>
          <p:nvPr/>
        </p:nvSpPr>
        <p:spPr>
          <a:xfrm>
            <a:off x="752475" y="47244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xmlns="" id="{9461BB55-0CCC-4770-8713-1B6206C1030F}"/>
              </a:ext>
            </a:extLst>
          </p:cNvPr>
          <p:cNvSpPr>
            <a:spLocks noGrp="1"/>
          </p:cNvSpPr>
          <p:nvPr/>
        </p:nvSpPr>
        <p:spPr>
          <a:xfrm>
            <a:off x="1285875" y="45720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Qualidade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xmlns="" id="{7DDB6DA5-4914-47E9-A5BB-69F107BC5B5B}"/>
              </a:ext>
            </a:extLst>
          </p:cNvPr>
          <p:cNvSpPr>
            <a:spLocks noGrp="1"/>
          </p:cNvSpPr>
          <p:nvPr/>
        </p:nvSpPr>
        <p:spPr>
          <a:xfrm>
            <a:off x="1285875" y="493395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Testes, limites, alertas e tratamento de falhas</a:t>
            </a:r>
          </a:p>
        </p:txBody>
      </p:sp>
      <p:sp>
        <p:nvSpPr>
          <p:cNvPr id="31" name="Conector reto 30">
            <a:extLst>
              <a:ext uri="{FF2B5EF4-FFF2-40B4-BE49-F238E27FC236}">
                <a16:creationId xmlns:a16="http://schemas.microsoft.com/office/drawing/2014/main" xmlns="" id="{95C6C562-391A-4E45-9E29-C9A9CBA3A0B4}"/>
              </a:ext>
            </a:extLst>
          </p:cNvPr>
          <p:cNvSpPr>
            <a:spLocks noGrp="1"/>
          </p:cNvSpPr>
          <p:nvPr/>
        </p:nvSpPr>
        <p:spPr>
          <a:xfrm>
            <a:off x="1285875" y="5372100"/>
            <a:ext cx="43815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xmlns="" id="{3F47B2DA-1048-4A48-8D9F-042343A56FC4}"/>
              </a:ext>
            </a:extLst>
          </p:cNvPr>
          <p:cNvSpPr>
            <a:spLocks noGrp="1"/>
          </p:cNvSpPr>
          <p:nvPr/>
        </p:nvSpPr>
        <p:spPr>
          <a:xfrm>
            <a:off x="6372225" y="4724400"/>
            <a:ext cx="361950" cy="36195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xmlns="" id="{15577F54-2826-4763-BF82-7047B3A58940}"/>
              </a:ext>
            </a:extLst>
          </p:cNvPr>
          <p:cNvSpPr>
            <a:spLocks noGrp="1"/>
          </p:cNvSpPr>
          <p:nvPr/>
        </p:nvSpPr>
        <p:spPr>
          <a:xfrm>
            <a:off x="6372225" y="47244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xmlns="" id="{214E0447-6A9F-4B91-85E5-4D1943424D32}"/>
              </a:ext>
            </a:extLst>
          </p:cNvPr>
          <p:cNvSpPr>
            <a:spLocks noGrp="1"/>
          </p:cNvSpPr>
          <p:nvPr/>
        </p:nvSpPr>
        <p:spPr>
          <a:xfrm>
            <a:off x="6905625" y="45720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15E3F"/>
                </a:solidFill>
              </a:defRPr>
            </a:defPPr>
          </a:lstStyle>
          <a:p>
            <a:pPr algn="l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Versionamento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xmlns="" id="{4B542405-543F-45DE-A829-0525A6C77784}"/>
              </a:ext>
            </a:extLst>
          </p:cNvPr>
          <p:cNvSpPr>
            <a:spLocks noGrp="1"/>
          </p:cNvSpPr>
          <p:nvPr/>
        </p:nvSpPr>
        <p:spPr>
          <a:xfrm>
            <a:off x="6905625" y="493395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Código, regras, parâmetros e documentação</a:t>
            </a:r>
          </a:p>
        </p:txBody>
      </p:sp>
      <p:sp>
        <p:nvSpPr>
          <p:cNvPr id="36" name="Conector reto 35">
            <a:extLst>
              <a:ext uri="{FF2B5EF4-FFF2-40B4-BE49-F238E27FC236}">
                <a16:creationId xmlns:a16="http://schemas.microsoft.com/office/drawing/2014/main" xmlns="" id="{63931F84-C8DC-400A-8A9C-7EC8E3F5B08C}"/>
              </a:ext>
            </a:extLst>
          </p:cNvPr>
          <p:cNvSpPr>
            <a:spLocks noGrp="1"/>
          </p:cNvSpPr>
          <p:nvPr/>
        </p:nvSpPr>
        <p:spPr>
          <a:xfrm>
            <a:off x="6905625" y="5372100"/>
            <a:ext cx="43815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033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ângulo 41">
            <a:extLst>
              <a:ext uri="{FF2B5EF4-FFF2-40B4-BE49-F238E27FC236}">
                <a16:creationId xmlns:a16="http://schemas.microsoft.com/office/drawing/2014/main" xmlns="" id="{80BDD7BD-C7C8-45D6-B435-576F440AC9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2C9BE4DA-FC7F-41E3-8F05-F98E30C10FE9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Fluxo entre especialistas e equipe de dados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B14C4465-DEE4-4D8C-A945-375192B781BD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A tecnologia organiza o processo sem retirar dos analistas a responsabilidade sobre o significado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F86FB11E-07B2-4F7F-A061-7B5B2C5A1231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735D1977-BD42-49E0-A4E3-30A9886A8FAA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DFB7BC21-8A1D-4DFB-8D8B-DA7B067C127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12</a:t>
            </a: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D3FD1948-14AA-4764-BB4B-5F99E9211D7A}"/>
              </a:ext>
            </a:extLst>
          </p:cNvPr>
          <p:cNvSpPr>
            <a:spLocks noGrp="1"/>
          </p:cNvSpPr>
          <p:nvPr/>
        </p:nvSpPr>
        <p:spPr>
          <a:xfrm>
            <a:off x="523875" y="2143125"/>
            <a:ext cx="1952625" cy="1238250"/>
          </a:xfrm>
          <a:prstGeom prst="roundRect">
            <a:avLst>
              <a:gd name="adj" fmla="val 9231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9CB4F81D-C3C4-4E2B-B69E-2C229FB1B679}"/>
              </a:ext>
            </a:extLst>
          </p:cNvPr>
          <p:cNvSpPr>
            <a:spLocks noGrp="1"/>
          </p:cNvSpPr>
          <p:nvPr/>
        </p:nvSpPr>
        <p:spPr>
          <a:xfrm>
            <a:off x="695325" y="23622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15E3F"/>
                </a:solidFill>
              </a:defRPr>
            </a:defPPr>
          </a:lstStyle>
          <a:p>
            <a:pPr algn="ctr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Necessidade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A7288B0E-607C-404C-BC98-DAD3DAA9F447}"/>
              </a:ext>
            </a:extLst>
          </p:cNvPr>
          <p:cNvSpPr>
            <a:spLocks noGrp="1"/>
          </p:cNvSpPr>
          <p:nvPr/>
        </p:nvSpPr>
        <p:spPr>
          <a:xfrm>
            <a:off x="695325" y="2838450"/>
            <a:ext cx="1609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5A5858"/>
                </a:solidFill>
              </a:defRPr>
            </a:defPPr>
          </a:lstStyle>
          <a:p>
            <a:pPr algn="ctr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Analista do tema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xmlns="" id="{87ADDA8D-32A4-4B23-BF54-2AEFE1931CF2}"/>
              </a:ext>
            </a:extLst>
          </p:cNvPr>
          <p:cNvSpPr>
            <a:spLocks noGrp="1"/>
          </p:cNvSpPr>
          <p:nvPr/>
        </p:nvSpPr>
        <p:spPr>
          <a:xfrm>
            <a:off x="2495550" y="2762250"/>
            <a:ext cx="29527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xmlns="" id="{20FB779E-2D91-47A0-A9CB-9AAF015A94FD}"/>
              </a:ext>
            </a:extLst>
          </p:cNvPr>
          <p:cNvSpPr>
            <a:spLocks noGrp="1"/>
          </p:cNvSpPr>
          <p:nvPr/>
        </p:nvSpPr>
        <p:spPr>
          <a:xfrm>
            <a:off x="2695575" y="26955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xmlns="" id="{DCDC81D9-61BE-4BE0-9AEC-2F977528A8F1}"/>
              </a:ext>
            </a:extLst>
          </p:cNvPr>
          <p:cNvSpPr>
            <a:spLocks noGrp="1"/>
          </p:cNvSpPr>
          <p:nvPr/>
        </p:nvSpPr>
        <p:spPr>
          <a:xfrm>
            <a:off x="2695575" y="276225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42224A29-A09D-4A07-AF53-071744329F1A}"/>
              </a:ext>
            </a:extLst>
          </p:cNvPr>
          <p:cNvSpPr>
            <a:spLocks noGrp="1"/>
          </p:cNvSpPr>
          <p:nvPr/>
        </p:nvSpPr>
        <p:spPr>
          <a:xfrm>
            <a:off x="2857500" y="2143125"/>
            <a:ext cx="1952625" cy="1238250"/>
          </a:xfrm>
          <a:prstGeom prst="roundRect">
            <a:avLst>
              <a:gd name="adj" fmla="val 9231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862DF978-FA5B-4685-89C0-99300088BE10}"/>
              </a:ext>
            </a:extLst>
          </p:cNvPr>
          <p:cNvSpPr>
            <a:spLocks noGrp="1"/>
          </p:cNvSpPr>
          <p:nvPr/>
        </p:nvSpPr>
        <p:spPr>
          <a:xfrm>
            <a:off x="3028950" y="23622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15E3F"/>
                </a:solidFill>
              </a:defRPr>
            </a:defPPr>
          </a:lstStyle>
          <a:p>
            <a:pPr algn="ctr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Modelagem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C32A6E80-E51F-4B07-B9D0-92287F3BC1D1}"/>
              </a:ext>
            </a:extLst>
          </p:cNvPr>
          <p:cNvSpPr>
            <a:spLocks noGrp="1"/>
          </p:cNvSpPr>
          <p:nvPr/>
        </p:nvSpPr>
        <p:spPr>
          <a:xfrm>
            <a:off x="3028950" y="2838450"/>
            <a:ext cx="1609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5A5858"/>
                </a:solidFill>
              </a:defRPr>
            </a:defPPr>
          </a:lstStyle>
          <a:p>
            <a:pPr algn="ctr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Equipe de dados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xmlns="" id="{5F2AE2AF-97DC-4E1C-8EA9-1B92CCB2957A}"/>
              </a:ext>
            </a:extLst>
          </p:cNvPr>
          <p:cNvSpPr>
            <a:spLocks noGrp="1"/>
          </p:cNvSpPr>
          <p:nvPr/>
        </p:nvSpPr>
        <p:spPr>
          <a:xfrm>
            <a:off x="4829175" y="2762250"/>
            <a:ext cx="29527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xmlns="" id="{ED7E4A97-302F-47BF-8DC6-D6B13505E46D}"/>
              </a:ext>
            </a:extLst>
          </p:cNvPr>
          <p:cNvSpPr>
            <a:spLocks noGrp="1"/>
          </p:cNvSpPr>
          <p:nvPr/>
        </p:nvSpPr>
        <p:spPr>
          <a:xfrm>
            <a:off x="5029200" y="26955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xmlns="" id="{97060A2A-406D-42D8-A05C-ECB6F47B29BD}"/>
              </a:ext>
            </a:extLst>
          </p:cNvPr>
          <p:cNvSpPr>
            <a:spLocks noGrp="1"/>
          </p:cNvSpPr>
          <p:nvPr/>
        </p:nvSpPr>
        <p:spPr>
          <a:xfrm>
            <a:off x="5029200" y="276225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9" name="Retângulo de cantos arredondados 18">
            <a:extLst>
              <a:ext uri="{FF2B5EF4-FFF2-40B4-BE49-F238E27FC236}">
                <a16:creationId xmlns:a16="http://schemas.microsoft.com/office/drawing/2014/main" xmlns="" id="{3B532973-7B34-4E73-94E9-2ACE06458F3C}"/>
              </a:ext>
            </a:extLst>
          </p:cNvPr>
          <p:cNvSpPr>
            <a:spLocks noGrp="1"/>
          </p:cNvSpPr>
          <p:nvPr/>
        </p:nvSpPr>
        <p:spPr>
          <a:xfrm>
            <a:off x="5191125" y="2143125"/>
            <a:ext cx="1952625" cy="1238250"/>
          </a:xfrm>
          <a:prstGeom prst="roundRect">
            <a:avLst>
              <a:gd name="adj" fmla="val 9231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992F7CFD-3F7B-4FA6-A5C2-DE48D46F73C0}"/>
              </a:ext>
            </a:extLst>
          </p:cNvPr>
          <p:cNvSpPr>
            <a:spLocks noGrp="1"/>
          </p:cNvSpPr>
          <p:nvPr/>
        </p:nvSpPr>
        <p:spPr>
          <a:xfrm>
            <a:off x="5362575" y="23622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15E3F"/>
                </a:solidFill>
              </a:defRPr>
            </a:defPPr>
          </a:lstStyle>
          <a:p>
            <a:pPr algn="ctr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Homologação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8BD2B307-F093-462F-9648-885E30827A43}"/>
              </a:ext>
            </a:extLst>
          </p:cNvPr>
          <p:cNvSpPr>
            <a:spLocks noGrp="1"/>
          </p:cNvSpPr>
          <p:nvPr/>
        </p:nvSpPr>
        <p:spPr>
          <a:xfrm>
            <a:off x="5362575" y="2838450"/>
            <a:ext cx="1609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5A5858"/>
                </a:solidFill>
              </a:defRPr>
            </a:defPPr>
          </a:lstStyle>
          <a:p>
            <a:pPr algn="ctr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Validação conjunta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xmlns="" id="{16F3D50C-C623-476C-96A1-5AB34AE37625}"/>
              </a:ext>
            </a:extLst>
          </p:cNvPr>
          <p:cNvSpPr>
            <a:spLocks noGrp="1"/>
          </p:cNvSpPr>
          <p:nvPr/>
        </p:nvSpPr>
        <p:spPr>
          <a:xfrm>
            <a:off x="7162800" y="2762250"/>
            <a:ext cx="29527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xmlns="" id="{4B9A648F-18F7-4042-A776-5914B45FA3AF}"/>
              </a:ext>
            </a:extLst>
          </p:cNvPr>
          <p:cNvSpPr>
            <a:spLocks noGrp="1"/>
          </p:cNvSpPr>
          <p:nvPr/>
        </p:nvSpPr>
        <p:spPr>
          <a:xfrm>
            <a:off x="7362825" y="26955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xmlns="" id="{3427B9D8-E76B-405A-962D-A27FF173D83D}"/>
              </a:ext>
            </a:extLst>
          </p:cNvPr>
          <p:cNvSpPr>
            <a:spLocks noGrp="1"/>
          </p:cNvSpPr>
          <p:nvPr/>
        </p:nvSpPr>
        <p:spPr>
          <a:xfrm>
            <a:off x="7362825" y="276225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5" name="Retângulo de cantos arredondados 24">
            <a:extLst>
              <a:ext uri="{FF2B5EF4-FFF2-40B4-BE49-F238E27FC236}">
                <a16:creationId xmlns:a16="http://schemas.microsoft.com/office/drawing/2014/main" xmlns="" id="{1982468B-A81E-4B34-A15A-7420094B618C}"/>
              </a:ext>
            </a:extLst>
          </p:cNvPr>
          <p:cNvSpPr>
            <a:spLocks noGrp="1"/>
          </p:cNvSpPr>
          <p:nvPr/>
        </p:nvSpPr>
        <p:spPr>
          <a:xfrm>
            <a:off x="7524750" y="2143125"/>
            <a:ext cx="1952625" cy="1238250"/>
          </a:xfrm>
          <a:prstGeom prst="roundRect">
            <a:avLst>
              <a:gd name="adj" fmla="val 9231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xmlns="" id="{502CFD12-B923-4D5E-93F0-6C398DA7D764}"/>
              </a:ext>
            </a:extLst>
          </p:cNvPr>
          <p:cNvSpPr>
            <a:spLocks noGrp="1"/>
          </p:cNvSpPr>
          <p:nvPr/>
        </p:nvSpPr>
        <p:spPr>
          <a:xfrm>
            <a:off x="7696200" y="23622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15E3F"/>
                </a:solidFill>
              </a:defRPr>
            </a:defPPr>
          </a:lstStyle>
          <a:p>
            <a:pPr algn="ctr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Publicação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xmlns="" id="{AC5BFCE2-AA35-4ACA-811F-FE60B8E22602}"/>
              </a:ext>
            </a:extLst>
          </p:cNvPr>
          <p:cNvSpPr>
            <a:spLocks noGrp="1"/>
          </p:cNvSpPr>
          <p:nvPr/>
        </p:nvSpPr>
        <p:spPr>
          <a:xfrm>
            <a:off x="7696200" y="2838450"/>
            <a:ext cx="1609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5A5858"/>
                </a:solidFill>
              </a:defRPr>
            </a:defPPr>
          </a:lstStyle>
          <a:p>
            <a:pPr algn="ctr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Dono do produto</a:t>
            </a:r>
          </a:p>
        </p:txBody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xmlns="" id="{B4091496-4EAF-4CD3-88BE-875DAC0E5749}"/>
              </a:ext>
            </a:extLst>
          </p:cNvPr>
          <p:cNvSpPr>
            <a:spLocks noGrp="1"/>
          </p:cNvSpPr>
          <p:nvPr/>
        </p:nvSpPr>
        <p:spPr>
          <a:xfrm>
            <a:off x="9496425" y="2762250"/>
            <a:ext cx="295275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xmlns="" id="{197636AA-A6B2-414E-B464-5693970CB704}"/>
              </a:ext>
            </a:extLst>
          </p:cNvPr>
          <p:cNvSpPr>
            <a:spLocks noGrp="1"/>
          </p:cNvSpPr>
          <p:nvPr/>
        </p:nvSpPr>
        <p:spPr>
          <a:xfrm>
            <a:off x="9696450" y="26955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xmlns="" id="{1522D4EB-375F-421B-A6FD-0BF7FB3698A8}"/>
              </a:ext>
            </a:extLst>
          </p:cNvPr>
          <p:cNvSpPr>
            <a:spLocks noGrp="1"/>
          </p:cNvSpPr>
          <p:nvPr/>
        </p:nvSpPr>
        <p:spPr>
          <a:xfrm>
            <a:off x="9696450" y="276225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31" name="Retângulo de cantos arredondados 30">
            <a:extLst>
              <a:ext uri="{FF2B5EF4-FFF2-40B4-BE49-F238E27FC236}">
                <a16:creationId xmlns:a16="http://schemas.microsoft.com/office/drawing/2014/main" xmlns="" id="{B3C8B4C3-9388-49B0-86C6-157EF38D8231}"/>
              </a:ext>
            </a:extLst>
          </p:cNvPr>
          <p:cNvSpPr>
            <a:spLocks noGrp="1"/>
          </p:cNvSpPr>
          <p:nvPr/>
        </p:nvSpPr>
        <p:spPr>
          <a:xfrm>
            <a:off x="9858375" y="2143125"/>
            <a:ext cx="1952625" cy="1238250"/>
          </a:xfrm>
          <a:prstGeom prst="roundRect">
            <a:avLst>
              <a:gd name="adj" fmla="val 9231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xmlns="" id="{3E33455F-7727-4A00-B190-06C40603B3CB}"/>
              </a:ext>
            </a:extLst>
          </p:cNvPr>
          <p:cNvSpPr>
            <a:spLocks noGrp="1"/>
          </p:cNvSpPr>
          <p:nvPr/>
        </p:nvSpPr>
        <p:spPr>
          <a:xfrm>
            <a:off x="10029825" y="23622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15E3F"/>
                </a:solidFill>
              </a:defRPr>
            </a:defPPr>
          </a:lstStyle>
          <a:p>
            <a:pPr algn="ctr">
              <a:defRPr sz="1275" b="1">
                <a:solidFill>
                  <a:srgbClr val="115E3F"/>
                </a:solidFill>
              </a:defRPr>
            </a:pPr>
            <a:r>
              <a:rPr sz="1275" b="1">
                <a:solidFill>
                  <a:srgbClr val="115E3F"/>
                </a:solidFill>
              </a:rPr>
              <a:t>Monitoramento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xmlns="" id="{BE22DF68-D340-4A3E-9DB1-4467562A2581}"/>
              </a:ext>
            </a:extLst>
          </p:cNvPr>
          <p:cNvSpPr>
            <a:spLocks noGrp="1"/>
          </p:cNvSpPr>
          <p:nvPr/>
        </p:nvSpPr>
        <p:spPr>
          <a:xfrm>
            <a:off x="10029825" y="2838450"/>
            <a:ext cx="1609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5A5858"/>
                </a:solidFill>
              </a:defRPr>
            </a:defPPr>
          </a:lstStyle>
          <a:p>
            <a:pPr algn="ctr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Dados e negócio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xmlns="" id="{993C3416-9B41-4E03-A233-5F902E9211C4}"/>
              </a:ext>
            </a:extLst>
          </p:cNvPr>
          <p:cNvSpPr>
            <a:spLocks noGrp="1"/>
          </p:cNvSpPr>
          <p:nvPr/>
        </p:nvSpPr>
        <p:spPr>
          <a:xfrm>
            <a:off x="714375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115E3F"/>
                </a:solidFill>
              </a:defRPr>
            </a:defPPr>
          </a:lstStyle>
          <a:p>
            <a:pPr algn="ctr">
              <a:defRPr sz="1200" b="1">
                <a:solidFill>
                  <a:srgbClr val="115E3F"/>
                </a:solidFill>
              </a:defRPr>
            </a:pPr>
            <a:r>
              <a:rPr sz="1200" b="1">
                <a:solidFill>
                  <a:srgbClr val="115E3F"/>
                </a:solidFill>
              </a:rPr>
              <a:t>Especialista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xmlns="" id="{2ABAB60A-4527-4CCB-AC91-D2CF7BD9558E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A5858"/>
                </a:solidFill>
              </a:defRPr>
            </a:defPPr>
          </a:lstStyle>
          <a:p>
            <a:pPr algn="ctr">
              <a:defRPr sz="975" b="0">
                <a:solidFill>
                  <a:srgbClr val="5A5858"/>
                </a:solidFill>
              </a:defRPr>
            </a:pPr>
            <a:r>
              <a:rPr sz="975" b="0">
                <a:solidFill>
                  <a:srgbClr val="5A5858"/>
                </a:solidFill>
              </a:rPr>
              <a:t>Define conceitos e valida resultados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xmlns="" id="{AF0A85E5-FD0E-4D5D-B43D-9A608431C149}"/>
              </a:ext>
            </a:extLst>
          </p:cNvPr>
          <p:cNvSpPr>
            <a:spLocks noGrp="1"/>
          </p:cNvSpPr>
          <p:nvPr/>
        </p:nvSpPr>
        <p:spPr>
          <a:xfrm>
            <a:off x="3571875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115E3F"/>
                </a:solidFill>
              </a:defRPr>
            </a:defPPr>
          </a:lstStyle>
          <a:p>
            <a:pPr algn="ctr">
              <a:defRPr sz="1200" b="1">
                <a:solidFill>
                  <a:srgbClr val="115E3F"/>
                </a:solidFill>
              </a:defRPr>
            </a:pPr>
            <a:r>
              <a:rPr sz="1200" b="1">
                <a:solidFill>
                  <a:srgbClr val="115E3F"/>
                </a:solidFill>
              </a:rPr>
              <a:t>Responsável pelo dado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xmlns="" id="{7CF65BE6-EA00-4175-AC96-42431AC2D76B}"/>
              </a:ext>
            </a:extLst>
          </p:cNvPr>
          <p:cNvSpPr>
            <a:spLocks noGrp="1"/>
          </p:cNvSpPr>
          <p:nvPr/>
        </p:nvSpPr>
        <p:spPr>
          <a:xfrm>
            <a:off x="3571875" y="4667250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A5858"/>
                </a:solidFill>
              </a:defRPr>
            </a:defPPr>
          </a:lstStyle>
          <a:p>
            <a:pPr algn="ctr">
              <a:defRPr sz="975" b="0">
                <a:solidFill>
                  <a:srgbClr val="5A5858"/>
                </a:solidFill>
              </a:defRPr>
            </a:pPr>
            <a:r>
              <a:rPr sz="975" b="0">
                <a:solidFill>
                  <a:srgbClr val="5A5858"/>
                </a:solidFill>
              </a:rPr>
              <a:t>Aprova significado e qualidade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xmlns="" id="{5EBB50D0-9447-41A0-88DF-716602617606}"/>
              </a:ext>
            </a:extLst>
          </p:cNvPr>
          <p:cNvSpPr>
            <a:spLocks noGrp="1"/>
          </p:cNvSpPr>
          <p:nvPr/>
        </p:nvSpPr>
        <p:spPr>
          <a:xfrm>
            <a:off x="6429375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115E3F"/>
                </a:solidFill>
              </a:defRPr>
            </a:defPPr>
          </a:lstStyle>
          <a:p>
            <a:pPr algn="ctr">
              <a:defRPr sz="1200" b="1">
                <a:solidFill>
                  <a:srgbClr val="115E3F"/>
                </a:solidFill>
              </a:defRPr>
            </a:pPr>
            <a:r>
              <a:rPr sz="1200" b="1">
                <a:solidFill>
                  <a:srgbClr val="115E3F"/>
                </a:solidFill>
              </a:rPr>
              <a:t>Equipe de dados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xmlns="" id="{7186B4B1-37E4-4FD6-B21B-02087F2CEFA1}"/>
              </a:ext>
            </a:extLst>
          </p:cNvPr>
          <p:cNvSpPr>
            <a:spLocks noGrp="1"/>
          </p:cNvSpPr>
          <p:nvPr/>
        </p:nvSpPr>
        <p:spPr>
          <a:xfrm>
            <a:off x="6429375" y="4667250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A5858"/>
                </a:solidFill>
              </a:defRPr>
            </a:defPPr>
          </a:lstStyle>
          <a:p>
            <a:pPr algn="ctr">
              <a:defRPr sz="975" b="0">
                <a:solidFill>
                  <a:srgbClr val="5A5858"/>
                </a:solidFill>
              </a:defRPr>
            </a:pPr>
            <a:r>
              <a:rPr sz="975" b="0">
                <a:solidFill>
                  <a:srgbClr val="5A5858"/>
                </a:solidFill>
              </a:rPr>
              <a:t>Modela, automatiza e monitora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xmlns="" id="{216D170F-CE3A-47F6-B952-CAEF84C19E7A}"/>
              </a:ext>
            </a:extLst>
          </p:cNvPr>
          <p:cNvSpPr>
            <a:spLocks noGrp="1"/>
          </p:cNvSpPr>
          <p:nvPr/>
        </p:nvSpPr>
        <p:spPr>
          <a:xfrm>
            <a:off x="9286875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115E3F"/>
                </a:solidFill>
              </a:defRPr>
            </a:defPPr>
          </a:lstStyle>
          <a:p>
            <a:pPr algn="ctr">
              <a:defRPr sz="1200" b="1">
                <a:solidFill>
                  <a:srgbClr val="115E3F"/>
                </a:solidFill>
              </a:defRPr>
            </a:pPr>
            <a:r>
              <a:rPr sz="1200" b="1">
                <a:solidFill>
                  <a:srgbClr val="115E3F"/>
                </a:solidFill>
              </a:rPr>
              <a:t>Governança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xmlns="" id="{1C785D88-E562-481C-A141-D2D8993AD891}"/>
              </a:ext>
            </a:extLst>
          </p:cNvPr>
          <p:cNvSpPr>
            <a:spLocks noGrp="1"/>
          </p:cNvSpPr>
          <p:nvPr/>
        </p:nvSpPr>
        <p:spPr>
          <a:xfrm>
            <a:off x="9286875" y="4667250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A5858"/>
                </a:solidFill>
              </a:defRPr>
            </a:defPPr>
          </a:lstStyle>
          <a:p>
            <a:pPr algn="ctr">
              <a:defRPr sz="975" b="0">
                <a:solidFill>
                  <a:srgbClr val="5A5858"/>
                </a:solidFill>
              </a:defRPr>
            </a:pPr>
            <a:r>
              <a:rPr sz="975" b="0">
                <a:solidFill>
                  <a:srgbClr val="5A5858"/>
                </a:solidFill>
              </a:rPr>
              <a:t>Prioriza e resolve conflitos</a:t>
            </a:r>
          </a:p>
        </p:txBody>
      </p:sp>
    </p:spTree>
    <p:extLst>
      <p:ext uri="{BB962C8B-B14F-4D97-AF65-F5344CB8AC3E}">
        <p14:creationId xmlns:p14="http://schemas.microsoft.com/office/powerpoint/2010/main" val="1632776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0C83E688-0B58-43D7-BF34-E89EF30EE0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8A12CC1F-716D-43CF-A567-C0BBEE0C930B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Capacidades para implantação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01E0CFB1-2269-4C73-B2E3-C78C3CAAC8E5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Apoio especializado pode acelerar entregas e transferir conhecimento para a equipe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66DE80B4-F3EF-4C35-9497-05F60E5268EE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08FC6E1C-9695-4FDF-AA01-08E397EF87DD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6DB2DDA7-349B-4E63-9DC5-68307AB9A20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13</a:t>
            </a: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13D3CD17-7A02-4069-81CE-FD526B353896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5048250" cy="1428750"/>
          </a:xfrm>
          <a:prstGeom prst="roundRect">
            <a:avLst>
              <a:gd name="adj" fmla="val 8000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0B2D91CF-BE21-47B8-89EE-A2C7AABC6C76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66675" cy="1428750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A7E12D82-86F5-45E5-AF9C-DFC04F66C6C7}"/>
              </a:ext>
            </a:extLst>
          </p:cNvPr>
          <p:cNvSpPr>
            <a:spLocks noGrp="1"/>
          </p:cNvSpPr>
          <p:nvPr/>
        </p:nvSpPr>
        <p:spPr>
          <a:xfrm>
            <a:off x="942975" y="2238375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15E3F"/>
                </a:solidFill>
              </a:defRPr>
            </a:defPPr>
          </a:lstStyle>
          <a:p>
            <a:pPr algn="l">
              <a:defRPr sz="1350" b="1">
                <a:solidFill>
                  <a:srgbClr val="115E3F"/>
                </a:solidFill>
              </a:defRPr>
            </a:pPr>
            <a:r>
              <a:rPr sz="1350" b="1">
                <a:solidFill>
                  <a:srgbClr val="115E3F"/>
                </a:solidFill>
              </a:rPr>
              <a:t>Diagnóstico e arquitetura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1E4F0EBA-5C4C-498D-92C8-27DDA9089399}"/>
              </a:ext>
            </a:extLst>
          </p:cNvPr>
          <p:cNvSpPr>
            <a:spLocks noGrp="1"/>
          </p:cNvSpPr>
          <p:nvPr/>
        </p:nvSpPr>
        <p:spPr>
          <a:xfrm>
            <a:off x="942975" y="2609850"/>
            <a:ext cx="4648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Avaliação do ambiente, desenho técnico, prioridades e critérios de decisão.</a:t>
            </a:r>
          </a:p>
        </p:txBody>
      </p:sp>
      <p:sp>
        <p:nvSpPr>
          <p:cNvPr id="11" name="Retângulo de cantos arredondados 10">
            <a:extLst>
              <a:ext uri="{FF2B5EF4-FFF2-40B4-BE49-F238E27FC236}">
                <a16:creationId xmlns:a16="http://schemas.microsoft.com/office/drawing/2014/main" xmlns="" id="{82F4B38D-F4D9-479A-BA75-0AD3A0DB9532}"/>
              </a:ext>
            </a:extLst>
          </p:cNvPr>
          <p:cNvSpPr>
            <a:spLocks noGrp="1"/>
          </p:cNvSpPr>
          <p:nvPr/>
        </p:nvSpPr>
        <p:spPr>
          <a:xfrm>
            <a:off x="6429375" y="2095500"/>
            <a:ext cx="5048250" cy="1428750"/>
          </a:xfrm>
          <a:prstGeom prst="roundRect">
            <a:avLst>
              <a:gd name="adj" fmla="val 8000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5D0BB067-0990-4C89-B11E-D33C99DE46F7}"/>
              </a:ext>
            </a:extLst>
          </p:cNvPr>
          <p:cNvSpPr>
            <a:spLocks noGrp="1"/>
          </p:cNvSpPr>
          <p:nvPr/>
        </p:nvSpPr>
        <p:spPr>
          <a:xfrm>
            <a:off x="6429375" y="2095500"/>
            <a:ext cx="66675" cy="1428750"/>
          </a:xfrm>
          <a:prstGeom prst="rect">
            <a:avLst/>
          </a:prstGeom>
          <a:solidFill>
            <a:srgbClr val="ED1C24"/>
          </a:solidFill>
          <a:ln w="9525">
            <a:solidFill>
              <a:srgbClr val="ED1C24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3BE5BAC9-17B5-4E2E-A30C-4897EC614AD7}"/>
              </a:ext>
            </a:extLst>
          </p:cNvPr>
          <p:cNvSpPr>
            <a:spLocks noGrp="1"/>
          </p:cNvSpPr>
          <p:nvPr/>
        </p:nvSpPr>
        <p:spPr>
          <a:xfrm>
            <a:off x="6657975" y="2238375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ED1C24"/>
                </a:solidFill>
              </a:defRPr>
            </a:defPPr>
          </a:lstStyle>
          <a:p>
            <a:pPr algn="l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Desenvolvimento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46EE1440-CD24-4469-A760-0E6A14C2C3F9}"/>
              </a:ext>
            </a:extLst>
          </p:cNvPr>
          <p:cNvSpPr>
            <a:spLocks noGrp="1"/>
          </p:cNvSpPr>
          <p:nvPr/>
        </p:nvSpPr>
        <p:spPr>
          <a:xfrm>
            <a:off x="6657975" y="2609850"/>
            <a:ext cx="4648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Pipelines, modelos, testes, APIs e automação. Prioridade para soluções abertas nos componentes ainda não existentes.</a:t>
            </a:r>
          </a:p>
        </p:txBody>
      </p:sp>
      <p:sp>
        <p:nvSpPr>
          <p:cNvPr id="15" name="Retângulo de cantos arredondados 14">
            <a:extLst>
              <a:ext uri="{FF2B5EF4-FFF2-40B4-BE49-F238E27FC236}">
                <a16:creationId xmlns:a16="http://schemas.microsoft.com/office/drawing/2014/main" xmlns="" id="{6B974B04-AED7-4C30-9663-EF709AEF1A14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5048250" cy="1428750"/>
          </a:xfrm>
          <a:prstGeom prst="roundRect">
            <a:avLst>
              <a:gd name="adj" fmla="val 8000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C1887526-FF3B-46DD-8069-0F049F4D8BFD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66675" cy="1428750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7BABEF32-53F8-400A-BFE3-24C87403F54F}"/>
              </a:ext>
            </a:extLst>
          </p:cNvPr>
          <p:cNvSpPr>
            <a:spLocks noGrp="1"/>
          </p:cNvSpPr>
          <p:nvPr/>
        </p:nvSpPr>
        <p:spPr>
          <a:xfrm>
            <a:off x="942975" y="4048125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15E3F"/>
                </a:solidFill>
              </a:defRPr>
            </a:defPPr>
          </a:lstStyle>
          <a:p>
            <a:pPr algn="l">
              <a:defRPr sz="1350" b="1">
                <a:solidFill>
                  <a:srgbClr val="115E3F"/>
                </a:solidFill>
              </a:defRPr>
            </a:pPr>
            <a:r>
              <a:rPr sz="1350" b="1">
                <a:solidFill>
                  <a:srgbClr val="115E3F"/>
                </a:solidFill>
              </a:rPr>
              <a:t>Documentação e qualidade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12E4637E-1C8B-48F7-9942-39E568D30CE9}"/>
              </a:ext>
            </a:extLst>
          </p:cNvPr>
          <p:cNvSpPr>
            <a:spLocks noGrp="1"/>
          </p:cNvSpPr>
          <p:nvPr/>
        </p:nvSpPr>
        <p:spPr>
          <a:xfrm>
            <a:off x="942975" y="4419600"/>
            <a:ext cx="4648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Catálogo, linhagem, regras, observabilidade e critérios de aceite.</a:t>
            </a:r>
          </a:p>
        </p:txBody>
      </p:sp>
      <p:sp>
        <p:nvSpPr>
          <p:cNvPr id="19" name="Retângulo de cantos arredondados 18">
            <a:extLst>
              <a:ext uri="{FF2B5EF4-FFF2-40B4-BE49-F238E27FC236}">
                <a16:creationId xmlns:a16="http://schemas.microsoft.com/office/drawing/2014/main" xmlns="" id="{416AA887-9108-4486-BA1B-DBABB3F157FE}"/>
              </a:ext>
            </a:extLst>
          </p:cNvPr>
          <p:cNvSpPr>
            <a:spLocks noGrp="1"/>
          </p:cNvSpPr>
          <p:nvPr/>
        </p:nvSpPr>
        <p:spPr>
          <a:xfrm>
            <a:off x="6429375" y="3905250"/>
            <a:ext cx="5048250" cy="1428750"/>
          </a:xfrm>
          <a:prstGeom prst="roundRect">
            <a:avLst>
              <a:gd name="adj" fmla="val 8000"/>
            </a:avLst>
          </a:prstGeom>
          <a:solidFill>
            <a:srgbClr val="FAFBFA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D482776F-7A47-4416-ACC1-785468BD0C12}"/>
              </a:ext>
            </a:extLst>
          </p:cNvPr>
          <p:cNvSpPr>
            <a:spLocks noGrp="1"/>
          </p:cNvSpPr>
          <p:nvPr/>
        </p:nvSpPr>
        <p:spPr>
          <a:xfrm>
            <a:off x="6429375" y="3905250"/>
            <a:ext cx="66675" cy="1428750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7701A3E0-7E03-448A-82D9-627B026F2587}"/>
              </a:ext>
            </a:extLst>
          </p:cNvPr>
          <p:cNvSpPr>
            <a:spLocks noGrp="1"/>
          </p:cNvSpPr>
          <p:nvPr/>
        </p:nvSpPr>
        <p:spPr>
          <a:xfrm>
            <a:off x="6657975" y="4048125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15E3F"/>
                </a:solidFill>
              </a:defRPr>
            </a:defPPr>
          </a:lstStyle>
          <a:p>
            <a:pPr algn="l">
              <a:defRPr sz="1350" b="1">
                <a:solidFill>
                  <a:srgbClr val="115E3F"/>
                </a:solidFill>
              </a:defRPr>
            </a:pPr>
            <a:r>
              <a:rPr sz="1350" b="1">
                <a:solidFill>
                  <a:srgbClr val="115E3F"/>
                </a:solidFill>
              </a:rPr>
              <a:t>Transferência de conhecimento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232C19D6-B5CB-4512-A618-144B0EDC6BD5}"/>
              </a:ext>
            </a:extLst>
          </p:cNvPr>
          <p:cNvSpPr>
            <a:spLocks noGrp="1"/>
          </p:cNvSpPr>
          <p:nvPr/>
        </p:nvSpPr>
        <p:spPr>
          <a:xfrm>
            <a:off x="6657975" y="4419600"/>
            <a:ext cx="4648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A5858"/>
                </a:solidFill>
              </a:defRPr>
            </a:defPPr>
          </a:lstStyle>
          <a:p>
            <a:pPr algn="l">
              <a:defRPr sz="1050" b="0">
                <a:solidFill>
                  <a:srgbClr val="5A5858"/>
                </a:solidFill>
              </a:defRPr>
            </a:pPr>
            <a:r>
              <a:rPr sz="1050" b="0">
                <a:solidFill>
                  <a:srgbClr val="5A5858"/>
                </a:solidFill>
              </a:rPr>
              <a:t>Trabalho conjunto, capacitação e preparação para manutenção interna.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E0B6C51E-1745-4390-85A7-7109F4303FA2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15E3F"/>
                </a:solidFill>
              </a:defRPr>
            </a:defPPr>
          </a:lstStyle>
          <a:p>
            <a:pPr algn="ctr">
              <a:defRPr sz="1350" b="1">
                <a:solidFill>
                  <a:srgbClr val="115E3F"/>
                </a:solidFill>
              </a:defRPr>
            </a:pPr>
            <a:r>
              <a:rPr sz="1350" b="1">
                <a:solidFill>
                  <a:srgbClr val="115E3F"/>
                </a:solidFill>
              </a:rPr>
              <a:t>Modelo recomendado: execução assistida com repositórios, decisões e conhecimento sob controle do CEPA.</a:t>
            </a:r>
          </a:p>
        </p:txBody>
      </p:sp>
    </p:spTree>
    <p:extLst>
      <p:ext uri="{BB962C8B-B14F-4D97-AF65-F5344CB8AC3E}">
        <p14:creationId xmlns:p14="http://schemas.microsoft.com/office/powerpoint/2010/main" val="1002143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xmlns="" id="{F17653CE-3D95-4BC6-88EB-51734A3248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452ACBBE-B432-4D29-BD56-606C1D8A3010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Implantação incremental por produto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E6F2A9B1-7F49-4881-9BAC-4EE0B358BF46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A arquitetura cresce a partir de entregas úteis, sem concentrar o risco em um único projeto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CDC79C99-A5F8-4B6D-937F-62DBA0F3F4DD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98831378-6F80-4AD0-940B-3D31FEA6AF39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6BEC79F7-9FD8-4813-925B-5718D6B125D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14</a:t>
            </a: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58F79932-D6A2-4675-92CF-B2A8907E6DA8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2381250" cy="2095500"/>
          </a:xfrm>
          <a:prstGeom prst="roundRect">
            <a:avLst>
              <a:gd name="adj" fmla="val 5455"/>
            </a:avLst>
          </a:prstGeom>
          <a:solidFill>
            <a:srgbClr val="FBEAEC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C9F39514-E60E-4BC8-A2CC-64F9E8090162}"/>
              </a:ext>
            </a:extLst>
          </p:cNvPr>
          <p:cNvSpPr>
            <a:spLocks noGrp="1"/>
          </p:cNvSpPr>
          <p:nvPr/>
        </p:nvSpPr>
        <p:spPr>
          <a:xfrm>
            <a:off x="828675" y="25908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ED1C24"/>
                </a:solidFill>
              </a:defRPr>
            </a:defPPr>
          </a:lstStyle>
          <a:p>
            <a:pPr algn="ctr">
              <a:defRPr sz="1200" b="1">
                <a:solidFill>
                  <a:srgbClr val="ED1C24"/>
                </a:solidFill>
              </a:defRPr>
            </a:pPr>
            <a:r>
              <a:rPr sz="1200" b="1">
                <a:solidFill>
                  <a:srgbClr val="ED1C24"/>
                </a:solidFill>
              </a:rPr>
              <a:t>1. DIAGNÓSTICO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656177DC-6F44-4BB1-9A16-3F3B1B0509F8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905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1A1A1A"/>
                </a:solidFill>
              </a:defRPr>
            </a:defPPr>
          </a:lstStyle>
          <a:p>
            <a:pPr algn="ctr">
              <a:defRPr sz="1050" b="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</a:rPr>
              <a:t>Inventário, prioridades e desenho da arquitetura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xmlns="" id="{B86E7661-EA79-4578-A06A-A88EBC086B6D}"/>
              </a:ext>
            </a:extLst>
          </p:cNvPr>
          <p:cNvSpPr>
            <a:spLocks noGrp="1"/>
          </p:cNvSpPr>
          <p:nvPr/>
        </p:nvSpPr>
        <p:spPr>
          <a:xfrm>
            <a:off x="3019425" y="3381375"/>
            <a:ext cx="342900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xmlns="" id="{11C9CCE0-5B2F-4A6B-94B1-FD4F0A12FD37}"/>
              </a:ext>
            </a:extLst>
          </p:cNvPr>
          <p:cNvSpPr>
            <a:spLocks noGrp="1"/>
          </p:cNvSpPr>
          <p:nvPr/>
        </p:nvSpPr>
        <p:spPr>
          <a:xfrm>
            <a:off x="3267075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xmlns="" id="{2E348C58-19CF-44AA-BCA3-24647B97D7B2}"/>
              </a:ext>
            </a:extLst>
          </p:cNvPr>
          <p:cNvSpPr>
            <a:spLocks noGrp="1"/>
          </p:cNvSpPr>
          <p:nvPr/>
        </p:nvSpPr>
        <p:spPr>
          <a:xfrm>
            <a:off x="3267075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D5377696-835A-44A6-9FFA-7F49E5E164F0}"/>
              </a:ext>
            </a:extLst>
          </p:cNvPr>
          <p:cNvSpPr>
            <a:spLocks noGrp="1"/>
          </p:cNvSpPr>
          <p:nvPr/>
        </p:nvSpPr>
        <p:spPr>
          <a:xfrm>
            <a:off x="3505200" y="2333625"/>
            <a:ext cx="2381250" cy="2095500"/>
          </a:xfrm>
          <a:prstGeom prst="roundRect">
            <a:avLst>
              <a:gd name="adj" fmla="val 5455"/>
            </a:avLst>
          </a:prstGeom>
          <a:solidFill>
            <a:srgbClr val="FFF4E5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0FC48B43-3BF1-4BF3-A3B3-5E97204A2DFE}"/>
              </a:ext>
            </a:extLst>
          </p:cNvPr>
          <p:cNvSpPr>
            <a:spLocks noGrp="1"/>
          </p:cNvSpPr>
          <p:nvPr/>
        </p:nvSpPr>
        <p:spPr>
          <a:xfrm>
            <a:off x="3714750" y="25908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9A5D00"/>
                </a:solidFill>
              </a:defRPr>
            </a:defPPr>
          </a:lstStyle>
          <a:p>
            <a:pPr algn="ctr">
              <a:defRPr sz="1200" b="1">
                <a:solidFill>
                  <a:srgbClr val="9A5D00"/>
                </a:solidFill>
              </a:defRPr>
            </a:pPr>
            <a:r>
              <a:rPr sz="1200" b="1">
                <a:solidFill>
                  <a:srgbClr val="9A5D00"/>
                </a:solidFill>
              </a:rPr>
              <a:t>2. PRIMEIRA ENTREGA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2E4ED2C9-1128-47CF-86A6-E211D317D20D}"/>
              </a:ext>
            </a:extLst>
          </p:cNvPr>
          <p:cNvSpPr>
            <a:spLocks noGrp="1"/>
          </p:cNvSpPr>
          <p:nvPr/>
        </p:nvSpPr>
        <p:spPr>
          <a:xfrm>
            <a:off x="3743325" y="3238500"/>
            <a:ext cx="1905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1A1A1A"/>
                </a:solidFill>
              </a:defRPr>
            </a:defPPr>
          </a:lstStyle>
          <a:p>
            <a:pPr algn="ctr">
              <a:defRPr sz="1050" b="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</a:rPr>
              <a:t>Produto com fontes relevantes e equipe disponível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xmlns="" id="{73265751-7DF4-42E6-996A-D9F07D7189C4}"/>
              </a:ext>
            </a:extLst>
          </p:cNvPr>
          <p:cNvSpPr>
            <a:spLocks noGrp="1"/>
          </p:cNvSpPr>
          <p:nvPr/>
        </p:nvSpPr>
        <p:spPr>
          <a:xfrm>
            <a:off x="5905500" y="3381375"/>
            <a:ext cx="342900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xmlns="" id="{D523CB85-5246-4BBA-B90B-0D7B52B5D13D}"/>
              </a:ext>
            </a:extLst>
          </p:cNvPr>
          <p:cNvSpPr>
            <a:spLocks noGrp="1"/>
          </p:cNvSpPr>
          <p:nvPr/>
        </p:nvSpPr>
        <p:spPr>
          <a:xfrm>
            <a:off x="6153150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xmlns="" id="{2E34AF1A-39CD-4BD1-BFF3-C699F8AFA953}"/>
              </a:ext>
            </a:extLst>
          </p:cNvPr>
          <p:cNvSpPr>
            <a:spLocks noGrp="1"/>
          </p:cNvSpPr>
          <p:nvPr/>
        </p:nvSpPr>
        <p:spPr>
          <a:xfrm>
            <a:off x="6153150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19" name="Retângulo de cantos arredondados 18">
            <a:extLst>
              <a:ext uri="{FF2B5EF4-FFF2-40B4-BE49-F238E27FC236}">
                <a16:creationId xmlns:a16="http://schemas.microsoft.com/office/drawing/2014/main" xmlns="" id="{2361345A-0EEA-4717-98E7-7905D2EF3BFC}"/>
              </a:ext>
            </a:extLst>
          </p:cNvPr>
          <p:cNvSpPr>
            <a:spLocks noGrp="1"/>
          </p:cNvSpPr>
          <p:nvPr/>
        </p:nvSpPr>
        <p:spPr>
          <a:xfrm>
            <a:off x="6391275" y="2333625"/>
            <a:ext cx="2381250" cy="2095500"/>
          </a:xfrm>
          <a:prstGeom prst="roundRect">
            <a:avLst>
              <a:gd name="adj" fmla="val 5455"/>
            </a:avLst>
          </a:prstGeom>
          <a:solidFill>
            <a:srgbClr val="E8F2ED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C2B483C9-2BC3-47E6-B8FE-C36D618E31F9}"/>
              </a:ext>
            </a:extLst>
          </p:cNvPr>
          <p:cNvSpPr>
            <a:spLocks noGrp="1"/>
          </p:cNvSpPr>
          <p:nvPr/>
        </p:nvSpPr>
        <p:spPr>
          <a:xfrm>
            <a:off x="6600825" y="25908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115E3F"/>
                </a:solidFill>
              </a:defRPr>
            </a:defPPr>
          </a:lstStyle>
          <a:p>
            <a:pPr algn="ctr">
              <a:defRPr sz="1200" b="1">
                <a:solidFill>
                  <a:srgbClr val="115E3F"/>
                </a:solidFill>
              </a:defRPr>
            </a:pPr>
            <a:r>
              <a:rPr sz="1200" b="1">
                <a:solidFill>
                  <a:srgbClr val="115E3F"/>
                </a:solidFill>
              </a:rPr>
              <a:t>3. PADRÕES COMUNS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C77200F6-7B57-4DDD-AAD9-6DF6F1F0AF2B}"/>
              </a:ext>
            </a:extLst>
          </p:cNvPr>
          <p:cNvSpPr>
            <a:spLocks noGrp="1"/>
          </p:cNvSpPr>
          <p:nvPr/>
        </p:nvSpPr>
        <p:spPr>
          <a:xfrm>
            <a:off x="6629400" y="3238500"/>
            <a:ext cx="1905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1A1A1A"/>
                </a:solidFill>
              </a:defRPr>
            </a:defPPr>
          </a:lstStyle>
          <a:p>
            <a:pPr algn="ctr">
              <a:defRPr sz="1050" b="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</a:rPr>
              <a:t>Dimensões, catálogo, qualidade e fluxo de publicação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xmlns="" id="{DCC493CA-FD49-4C59-8C97-C1E4C7B308A5}"/>
              </a:ext>
            </a:extLst>
          </p:cNvPr>
          <p:cNvSpPr>
            <a:spLocks noGrp="1"/>
          </p:cNvSpPr>
          <p:nvPr/>
        </p:nvSpPr>
        <p:spPr>
          <a:xfrm>
            <a:off x="8791575" y="3381375"/>
            <a:ext cx="342900" cy="0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xmlns="" id="{28C8CFB5-FF47-47D6-9248-A5443827151E}"/>
              </a:ext>
            </a:extLst>
          </p:cNvPr>
          <p:cNvSpPr>
            <a:spLocks noGrp="1"/>
          </p:cNvSpPr>
          <p:nvPr/>
        </p:nvSpPr>
        <p:spPr>
          <a:xfrm>
            <a:off x="9039225" y="3314700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xmlns="" id="{13D9C656-3D32-4ECF-BFEF-91B1DC655EB7}"/>
              </a:ext>
            </a:extLst>
          </p:cNvPr>
          <p:cNvSpPr>
            <a:spLocks noGrp="1"/>
          </p:cNvSpPr>
          <p:nvPr/>
        </p:nvSpPr>
        <p:spPr>
          <a:xfrm>
            <a:off x="9039225" y="3381375"/>
            <a:ext cx="95250" cy="66675"/>
          </a:xfrm>
          <a:prstGeom prst="line">
            <a:avLst/>
          </a:prstGeom>
          <a:noFill/>
          <a:ln w="19050">
            <a:solidFill>
              <a:srgbClr val="1B6E62"/>
            </a:solidFill>
            <a:prstDash val="solid"/>
          </a:ln>
        </p:spPr>
      </p:sp>
      <p:sp>
        <p:nvSpPr>
          <p:cNvPr id="25" name="Retângulo de cantos arredondados 24">
            <a:extLst>
              <a:ext uri="{FF2B5EF4-FFF2-40B4-BE49-F238E27FC236}">
                <a16:creationId xmlns:a16="http://schemas.microsoft.com/office/drawing/2014/main" xmlns="" id="{B5F157CA-39E5-4306-846D-DEE053F7AE65}"/>
              </a:ext>
            </a:extLst>
          </p:cNvPr>
          <p:cNvSpPr>
            <a:spLocks noGrp="1"/>
          </p:cNvSpPr>
          <p:nvPr/>
        </p:nvSpPr>
        <p:spPr>
          <a:xfrm>
            <a:off x="9277350" y="2333625"/>
            <a:ext cx="2381250" cy="2095500"/>
          </a:xfrm>
          <a:prstGeom prst="roundRect">
            <a:avLst>
              <a:gd name="adj" fmla="val 5455"/>
            </a:avLst>
          </a:prstGeom>
          <a:solidFill>
            <a:srgbClr val="EEF4E8"/>
          </a:solidFill>
          <a:ln w="9525">
            <a:solidFill>
              <a:srgbClr val="D9E3DE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xmlns="" id="{C26E3A03-C570-4DA1-B022-1C7FE57275B8}"/>
              </a:ext>
            </a:extLst>
          </p:cNvPr>
          <p:cNvSpPr>
            <a:spLocks noGrp="1"/>
          </p:cNvSpPr>
          <p:nvPr/>
        </p:nvSpPr>
        <p:spPr>
          <a:xfrm>
            <a:off x="9486900" y="25908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48029"/>
                </a:solidFill>
              </a:defRPr>
            </a:defPPr>
          </a:lstStyle>
          <a:p>
            <a:pPr algn="ctr">
              <a:defRPr sz="1200" b="1">
                <a:solidFill>
                  <a:srgbClr val="248029"/>
                </a:solidFill>
              </a:defRPr>
            </a:pPr>
            <a:r>
              <a:rPr sz="1200" b="1">
                <a:solidFill>
                  <a:srgbClr val="248029"/>
                </a:solidFill>
              </a:rPr>
              <a:t>4. EXPANSÃO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xmlns="" id="{227CC44B-027D-40F2-8EBB-3BB7B6CBBFCC}"/>
              </a:ext>
            </a:extLst>
          </p:cNvPr>
          <p:cNvSpPr>
            <a:spLocks noGrp="1"/>
          </p:cNvSpPr>
          <p:nvPr/>
        </p:nvSpPr>
        <p:spPr>
          <a:xfrm>
            <a:off x="9515475" y="3238500"/>
            <a:ext cx="1905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1A1A1A"/>
                </a:solidFill>
              </a:defRPr>
            </a:defPPr>
          </a:lstStyle>
          <a:p>
            <a:pPr algn="ctr">
              <a:defRPr sz="1050" b="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</a:rPr>
              <a:t>Boletins, painéis, estudos e novas cadeias</a:t>
            </a:r>
          </a:p>
        </p:txBody>
      </p:sp>
      <p:sp>
        <p:nvSpPr>
          <p:cNvPr id="28" name="Retângulo de cantos arredondados 27">
            <a:extLst>
              <a:ext uri="{FF2B5EF4-FFF2-40B4-BE49-F238E27FC236}">
                <a16:creationId xmlns:a16="http://schemas.microsoft.com/office/drawing/2014/main" xmlns="" id="{234D64DA-F330-4DA4-A9F0-6634F2A16BE5}"/>
              </a:ext>
            </a:extLst>
          </p:cNvPr>
          <p:cNvSpPr>
            <a:spLocks noGrp="1"/>
          </p:cNvSpPr>
          <p:nvPr/>
        </p:nvSpPr>
        <p:spPr>
          <a:xfrm>
            <a:off x="1428750" y="4905375"/>
            <a:ext cx="9334500" cy="609600"/>
          </a:xfrm>
          <a:prstGeom prst="roundRect">
            <a:avLst>
              <a:gd name="adj" fmla="val 18750"/>
            </a:avLst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xmlns="" id="{AD06638C-2638-4A09-A027-9CA72ABCD015}"/>
              </a:ext>
            </a:extLst>
          </p:cNvPr>
          <p:cNvSpPr>
            <a:spLocks noGrp="1"/>
          </p:cNvSpPr>
          <p:nvPr/>
        </p:nvSpPr>
        <p:spPr>
          <a:xfrm>
            <a:off x="1666875" y="50101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FFFFF"/>
                </a:solidFill>
              </a:defRPr>
            </a:defPPr>
          </a:lstStyle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 primeira implantação comprova valor. As seguintes reutilizam os ativos já construídos.</a:t>
            </a:r>
          </a:p>
        </p:txBody>
      </p:sp>
    </p:spTree>
    <p:extLst>
      <p:ext uri="{BB962C8B-B14F-4D97-AF65-F5344CB8AC3E}">
        <p14:creationId xmlns:p14="http://schemas.microsoft.com/office/powerpoint/2010/main" val="1136057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7C75E390-7ABE-4068-96BF-718CFE94DA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A2C8DE3E-1FEB-4C9F-8AA7-EB56CA5081C1}"/>
              </a:ext>
            </a:extLst>
          </p:cNvPr>
          <p:cNvSpPr>
            <a:spLocks noGrp="1"/>
          </p:cNvSpPr>
          <p:nvPr/>
        </p:nvSpPr>
        <p:spPr>
          <a:xfrm>
            <a:off x="742950" y="504825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A1A1A"/>
                </a:solidFill>
              </a:defRPr>
            </a:defPPr>
          </a:lstStyle>
          <a:p>
            <a:pPr algn="l">
              <a:defRPr sz="2400" b="1">
                <a:solidFill>
                  <a:srgbClr val="1A1A1A"/>
                </a:solidFill>
              </a:defRPr>
            </a:pPr>
            <a:r>
              <a:rPr sz="2400" b="1">
                <a:solidFill>
                  <a:srgbClr val="1A1A1A"/>
                </a:solidFill>
              </a:rPr>
              <a:t>Próximas decisões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C7C205ED-6AEA-4205-8F64-B98793DF84C1}"/>
              </a:ext>
            </a:extLst>
          </p:cNvPr>
          <p:cNvSpPr>
            <a:spLocks noGrp="1"/>
          </p:cNvSpPr>
          <p:nvPr/>
        </p:nvSpPr>
        <p:spPr>
          <a:xfrm>
            <a:off x="742950" y="1047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A5858"/>
                </a:solidFill>
              </a:defRPr>
            </a:defPPr>
          </a:lstStyle>
          <a:p>
            <a:pPr algn="l">
              <a:defRPr sz="1200" b="0">
                <a:solidFill>
                  <a:srgbClr val="5A5858"/>
                </a:solidFill>
              </a:defRPr>
            </a:pPr>
            <a:r>
              <a:rPr sz="1200" b="0">
                <a:solidFill>
                  <a:srgbClr val="5A5858"/>
                </a:solidFill>
              </a:rPr>
              <a:t>Validação da arquitetura antes da apresentação para toda a equipe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xmlns="" id="{0128568F-85BD-45DF-B683-EE580F661083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706100" cy="0"/>
          </a:xfrm>
          <a:prstGeom prst="line">
            <a:avLst/>
          </a:prstGeom>
          <a:noFill/>
          <a:ln w="9525">
            <a:solidFill>
              <a:srgbClr val="D9E3D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8FF48282-15B3-4A4A-A5F4-F6817C6E6F85}"/>
              </a:ext>
            </a:extLst>
          </p:cNvPr>
          <p:cNvSpPr>
            <a:spLocks noGrp="1"/>
          </p:cNvSpPr>
          <p:nvPr/>
        </p:nvSpPr>
        <p:spPr>
          <a:xfrm>
            <a:off x="742950" y="64293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A5858"/>
                </a:solidFill>
              </a:defRPr>
            </a:defPPr>
          </a:lstStyle>
          <a:p>
            <a:pPr algn="l">
              <a:defRPr sz="750" b="0">
                <a:solidFill>
                  <a:srgbClr val="5A5858"/>
                </a:solidFill>
              </a:defRPr>
            </a:pPr>
            <a:r>
              <a:rPr sz="750" b="0">
                <a:solidFill>
                  <a:srgbClr val="5A5858"/>
                </a:solidFill>
              </a:rPr>
              <a:t>CEPA | Arquitetura e governança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2F952C97-C1B4-4B98-BB2F-1D1FB5F9685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750" b="1">
                <a:solidFill>
                  <a:srgbClr val="115E3F"/>
                </a:solidFill>
              </a:defRPr>
            </a:defPPr>
          </a:lstStyle>
          <a:p>
            <a:pPr algn="r">
              <a:defRPr sz="750" b="1">
                <a:solidFill>
                  <a:srgbClr val="115E3F"/>
                </a:solidFill>
              </a:defRPr>
            </a:pPr>
            <a:r>
              <a:rPr sz="750" b="1">
                <a:solidFill>
                  <a:srgbClr val="115E3F"/>
                </a:solidFill>
              </a:rPr>
              <a:t>15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xmlns="" id="{A14B2C9E-15ED-4F5F-BBE6-2D5922FBFD79}"/>
              </a:ext>
            </a:extLst>
          </p:cNvPr>
          <p:cNvSpPr>
            <a:spLocks noGrp="1"/>
          </p:cNvSpPr>
          <p:nvPr/>
        </p:nvSpPr>
        <p:spPr>
          <a:xfrm>
            <a:off x="790575" y="1952625"/>
            <a:ext cx="419100" cy="41910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5CC84C41-91EA-4123-A3A6-3C9FA07828F3}"/>
              </a:ext>
            </a:extLst>
          </p:cNvPr>
          <p:cNvSpPr>
            <a:spLocks noGrp="1"/>
          </p:cNvSpPr>
          <p:nvPr/>
        </p:nvSpPr>
        <p:spPr>
          <a:xfrm>
            <a:off x="790575" y="19526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AA9DC257-8409-493F-985A-FDED95CC3CA1}"/>
              </a:ext>
            </a:extLst>
          </p:cNvPr>
          <p:cNvSpPr>
            <a:spLocks noGrp="1"/>
          </p:cNvSpPr>
          <p:nvPr/>
        </p:nvSpPr>
        <p:spPr>
          <a:xfrm>
            <a:off x="1476375" y="19526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A1A1A"/>
                </a:solidFill>
              </a:defRPr>
            </a:defPPr>
          </a:lstStyle>
          <a:p>
            <a:pPr algn="l">
              <a:defRPr sz="1425" b="1">
                <a:solidFill>
                  <a:srgbClr val="1A1A1A"/>
                </a:solidFill>
              </a:defRPr>
            </a:pPr>
            <a:r>
              <a:rPr sz="1425" b="1">
                <a:solidFill>
                  <a:srgbClr val="1A1A1A"/>
                </a:solidFill>
              </a:rPr>
              <a:t>Confirmar a necessidade de uma arquitetura institucional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xmlns="" id="{613540CB-A90E-458F-A722-282D4D07FD50}"/>
              </a:ext>
            </a:extLst>
          </p:cNvPr>
          <p:cNvSpPr>
            <a:spLocks noGrp="1"/>
          </p:cNvSpPr>
          <p:nvPr/>
        </p:nvSpPr>
        <p:spPr>
          <a:xfrm>
            <a:off x="790575" y="2695575"/>
            <a:ext cx="419100" cy="41910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45BFB671-AFB3-4109-A575-706D4AE9745F}"/>
              </a:ext>
            </a:extLst>
          </p:cNvPr>
          <p:cNvSpPr>
            <a:spLocks noGrp="1"/>
          </p:cNvSpPr>
          <p:nvPr/>
        </p:nvSpPr>
        <p:spPr>
          <a:xfrm>
            <a:off x="790575" y="26955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97E14704-8FEC-4A54-9E7B-76203D79270C}"/>
              </a:ext>
            </a:extLst>
          </p:cNvPr>
          <p:cNvSpPr>
            <a:spLocks noGrp="1"/>
          </p:cNvSpPr>
          <p:nvPr/>
        </p:nvSpPr>
        <p:spPr>
          <a:xfrm>
            <a:off x="1476375" y="269557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A1A1A"/>
                </a:solidFill>
              </a:defRPr>
            </a:defPPr>
          </a:lstStyle>
          <a:p>
            <a:pPr algn="l">
              <a:defRPr sz="1425" b="1">
                <a:solidFill>
                  <a:srgbClr val="1A1A1A"/>
                </a:solidFill>
              </a:defRPr>
            </a:pPr>
            <a:r>
              <a:rPr sz="1425" b="1">
                <a:solidFill>
                  <a:srgbClr val="1A1A1A"/>
                </a:solidFill>
              </a:rPr>
              <a:t>Definir patrocinador, responsáveis e governança mínima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xmlns="" id="{56F5F09C-5D74-487E-A28C-476EAB019F77}"/>
              </a:ext>
            </a:extLst>
          </p:cNvPr>
          <p:cNvSpPr>
            <a:spLocks noGrp="1"/>
          </p:cNvSpPr>
          <p:nvPr/>
        </p:nvSpPr>
        <p:spPr>
          <a:xfrm>
            <a:off x="790575" y="3438525"/>
            <a:ext cx="419100" cy="41910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22356C07-E08F-4C3E-A84C-9534CD3A9C7D}"/>
              </a:ext>
            </a:extLst>
          </p:cNvPr>
          <p:cNvSpPr>
            <a:spLocks noGrp="1"/>
          </p:cNvSpPr>
          <p:nvPr/>
        </p:nvSpPr>
        <p:spPr>
          <a:xfrm>
            <a:off x="790575" y="34385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C5FE0DA2-C5C8-4BE7-A99F-8AF831180B24}"/>
              </a:ext>
            </a:extLst>
          </p:cNvPr>
          <p:cNvSpPr>
            <a:spLocks noGrp="1"/>
          </p:cNvSpPr>
          <p:nvPr/>
        </p:nvSpPr>
        <p:spPr>
          <a:xfrm>
            <a:off x="1476375" y="34385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A1A1A"/>
                </a:solidFill>
              </a:defRPr>
            </a:defPPr>
          </a:lstStyle>
          <a:p>
            <a:pPr algn="l">
              <a:defRPr sz="1425" b="1">
                <a:solidFill>
                  <a:srgbClr val="1A1A1A"/>
                </a:solidFill>
              </a:defRPr>
            </a:pPr>
            <a:r>
              <a:rPr sz="1425" b="1">
                <a:solidFill>
                  <a:srgbClr val="1A1A1A"/>
                </a:solidFill>
              </a:rPr>
              <a:t>Selecionar a primeira implantação por valor, maturidade e viabilidade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xmlns="" id="{AF1CA643-A384-414F-95EF-F9B147639315}"/>
              </a:ext>
            </a:extLst>
          </p:cNvPr>
          <p:cNvSpPr>
            <a:spLocks noGrp="1"/>
          </p:cNvSpPr>
          <p:nvPr/>
        </p:nvSpPr>
        <p:spPr>
          <a:xfrm>
            <a:off x="790575" y="4181475"/>
            <a:ext cx="419100" cy="41910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EA164966-8943-4A9A-97F7-FB25592D9A57}"/>
              </a:ext>
            </a:extLst>
          </p:cNvPr>
          <p:cNvSpPr>
            <a:spLocks noGrp="1"/>
          </p:cNvSpPr>
          <p:nvPr/>
        </p:nvSpPr>
        <p:spPr>
          <a:xfrm>
            <a:off x="790575" y="41814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9D961068-2C1F-4B5E-A69A-9C8249EEF82E}"/>
              </a:ext>
            </a:extLst>
          </p:cNvPr>
          <p:cNvSpPr>
            <a:spLocks noGrp="1"/>
          </p:cNvSpPr>
          <p:nvPr/>
        </p:nvSpPr>
        <p:spPr>
          <a:xfrm>
            <a:off x="1476375" y="418147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A1A1A"/>
                </a:solidFill>
              </a:defRPr>
            </a:defPPr>
          </a:lstStyle>
          <a:p>
            <a:pPr algn="l">
              <a:defRPr sz="1425" b="1">
                <a:solidFill>
                  <a:srgbClr val="1A1A1A"/>
                </a:solidFill>
              </a:defRPr>
            </a:pPr>
            <a:r>
              <a:rPr sz="1425" b="1">
                <a:solidFill>
                  <a:srgbClr val="1A1A1A"/>
                </a:solidFill>
              </a:rPr>
              <a:t>Delimitar entregas, critérios de aceite e transferência de conhecimento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xmlns="" id="{00CC17B5-F833-45E3-A667-2EB5B6CA828A}"/>
              </a:ext>
            </a:extLst>
          </p:cNvPr>
          <p:cNvSpPr>
            <a:spLocks noGrp="1"/>
          </p:cNvSpPr>
          <p:nvPr/>
        </p:nvSpPr>
        <p:spPr>
          <a:xfrm>
            <a:off x="790575" y="4924425"/>
            <a:ext cx="419100" cy="419100"/>
          </a:xfrm>
          <a:prstGeom prst="ellipse">
            <a:avLst/>
          </a:prstGeom>
          <a:solidFill>
            <a:srgbClr val="115E3F"/>
          </a:solidFill>
          <a:ln w="0">
            <a:solidFill>
              <a:srgbClr val="115E3F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073122F7-22DA-414F-9B37-E56C5F6FF885}"/>
              </a:ext>
            </a:extLst>
          </p:cNvPr>
          <p:cNvSpPr>
            <a:spLocks noGrp="1"/>
          </p:cNvSpPr>
          <p:nvPr/>
        </p:nvSpPr>
        <p:spPr>
          <a:xfrm>
            <a:off x="790575" y="49244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FFFFFF"/>
                </a:solidFill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02876BDC-BEE3-43C6-A793-EC4752F7A700}"/>
              </a:ext>
            </a:extLst>
          </p:cNvPr>
          <p:cNvSpPr>
            <a:spLocks noGrp="1"/>
          </p:cNvSpPr>
          <p:nvPr/>
        </p:nvSpPr>
        <p:spPr>
          <a:xfrm>
            <a:off x="1476375" y="49244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A1A1A"/>
                </a:solidFill>
              </a:defRPr>
            </a:defPPr>
          </a:lstStyle>
          <a:p>
            <a:pPr algn="l">
              <a:defRPr sz="1425" b="1">
                <a:solidFill>
                  <a:srgbClr val="1A1A1A"/>
                </a:solidFill>
              </a:defRPr>
            </a:pPr>
            <a:r>
              <a:rPr sz="1425" b="1">
                <a:solidFill>
                  <a:srgbClr val="1A1A1A"/>
                </a:solidFill>
              </a:rPr>
              <a:t>Realizar diagnóstico técnico e estimativa de implantação</a:t>
            </a:r>
          </a:p>
        </p:txBody>
      </p:sp>
      <p:sp>
        <p:nvSpPr>
          <p:cNvPr id="22" name="Retângulo de cantos arredondados 21">
            <a:extLst>
              <a:ext uri="{FF2B5EF4-FFF2-40B4-BE49-F238E27FC236}">
                <a16:creationId xmlns:a16="http://schemas.microsoft.com/office/drawing/2014/main" xmlns="" id="{448C9E68-CFD6-469D-8F09-6222B533AAD6}"/>
              </a:ext>
            </a:extLst>
          </p:cNvPr>
          <p:cNvSpPr>
            <a:spLocks noGrp="1"/>
          </p:cNvSpPr>
          <p:nvPr/>
        </p:nvSpPr>
        <p:spPr>
          <a:xfrm>
            <a:off x="904875" y="5667375"/>
            <a:ext cx="10382250" cy="590550"/>
          </a:xfrm>
          <a:prstGeom prst="roundRect">
            <a:avLst>
              <a:gd name="adj" fmla="val 19355"/>
            </a:avLst>
          </a:prstGeom>
          <a:solidFill>
            <a:srgbClr val="115E3F"/>
          </a:solidFill>
          <a:ln w="9525">
            <a:solidFill>
              <a:srgbClr val="115E3F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CEBE393D-0D4A-4FBE-B24A-6E05616600D9}"/>
              </a:ext>
            </a:extLst>
          </p:cNvPr>
          <p:cNvSpPr>
            <a:spLocks noGrp="1"/>
          </p:cNvSpPr>
          <p:nvPr/>
        </p:nvSpPr>
        <p:spPr>
          <a:xfrm>
            <a:off x="1190625" y="5781675"/>
            <a:ext cx="981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FFFFF"/>
                </a:solidFill>
              </a:defRPr>
            </a:defPPr>
          </a:lstStyle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Uma arquitetura comum permite que cada produto evolua sem reconstruir toda a base.</a:t>
            </a:r>
          </a:p>
        </p:txBody>
      </p:sp>
    </p:spTree>
    <p:extLst>
      <p:ext uri="{BB962C8B-B14F-4D97-AF65-F5344CB8AC3E}">
        <p14:creationId xmlns:p14="http://schemas.microsoft.com/office/powerpoint/2010/main" val="9993957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1188</Words>
  <Application>Microsoft Office PowerPoint</Application>
  <DocSecurity>0</DocSecurity>
  <PresentationFormat>Widescreen</PresentationFormat>
  <Paragraphs>221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7" baseType="lpstr">
      <vt:lpstr>Aptos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Elton Nogueira Santana</cp:lastModifiedBy>
  <cp:revision>2</cp:revision>
  <cp:lastPrinted>2026-10-08T20:12:49Z</cp:lastPrinted>
  <dcterms:created xsi:type="dcterms:W3CDTF">2026-10-08T19:45:35Z</dcterms:created>
  <dcterms:modified xsi:type="dcterms:W3CDTF">2026-10-08T20:48:42Z</dcterms:modified>
</cp:coreProperties>
</file>